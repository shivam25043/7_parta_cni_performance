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Calibri (MS) Italics" charset="1" panose="020F05020202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54663" y="-12697"/>
            <a:ext cx="5146043" cy="10312403"/>
            <a:chOff x="0" y="0"/>
            <a:chExt cx="68613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68275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20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61301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3732890"/>
                  </a:lnTo>
                  <a:cubicBezTo>
                    <a:pt x="6861301" y="13742290"/>
                    <a:pt x="6853682" y="13749782"/>
                    <a:pt x="68444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844411" y="13716000"/>
                  </a:lnTo>
                  <a:lnTo>
                    <a:pt x="6844411" y="13732890"/>
                  </a:lnTo>
                  <a:lnTo>
                    <a:pt x="6827520" y="13732890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20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154663" y="-12697"/>
            <a:ext cx="98555" cy="10312403"/>
            <a:chOff x="0" y="0"/>
            <a:chExt cx="131407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97536">
                  <a:moveTo>
                    <a:pt x="0" y="0"/>
                  </a:moveTo>
                  <a:lnTo>
                    <a:pt x="97536" y="0"/>
                  </a:lnTo>
                  <a:lnTo>
                    <a:pt x="9753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31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3732890"/>
                  </a:lnTo>
                  <a:cubicBezTo>
                    <a:pt x="131318" y="13742290"/>
                    <a:pt x="123698" y="13749782"/>
                    <a:pt x="11442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14427" y="13716000"/>
                  </a:lnTo>
                  <a:lnTo>
                    <a:pt x="114427" y="13732890"/>
                  </a:lnTo>
                  <a:lnTo>
                    <a:pt x="97536" y="13732890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11863" y="901703"/>
            <a:ext cx="4231643" cy="976379"/>
            <a:chOff x="0" y="0"/>
            <a:chExt cx="5642191" cy="13018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6083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05A5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42102" cy="1301750"/>
            </a:xfrm>
            <a:custGeom>
              <a:avLst/>
              <a:gdLst/>
              <a:ahLst/>
              <a:cxnLst/>
              <a:rect r="r" b="b" t="t" l="l"/>
              <a:pathLst>
                <a:path h="1301750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84859"/>
                  </a:lnTo>
                  <a:cubicBezTo>
                    <a:pt x="5642102" y="1294257"/>
                    <a:pt x="5634482" y="1301750"/>
                    <a:pt x="562521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625211" y="1267968"/>
                  </a:lnTo>
                  <a:lnTo>
                    <a:pt x="5625211" y="1284859"/>
                  </a:lnTo>
                  <a:lnTo>
                    <a:pt x="5608320" y="1284859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A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624560" y="914400"/>
            <a:ext cx="4206240" cy="950976"/>
            <a:chOff x="0" y="0"/>
            <a:chExt cx="5608320" cy="12679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083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3" r="0" b="-3618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60832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FLANNEL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11863" y="2181863"/>
            <a:ext cx="4231643" cy="976379"/>
            <a:chOff x="0" y="0"/>
            <a:chExt cx="5642191" cy="1301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6083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5C84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42102" cy="1301750"/>
            </a:xfrm>
            <a:custGeom>
              <a:avLst/>
              <a:gdLst/>
              <a:ahLst/>
              <a:cxnLst/>
              <a:rect r="r" b="b" t="t" l="l"/>
              <a:pathLst>
                <a:path h="1301750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84859"/>
                  </a:lnTo>
                  <a:cubicBezTo>
                    <a:pt x="5642102" y="1294257"/>
                    <a:pt x="5634482" y="1301750"/>
                    <a:pt x="562521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625211" y="1267968"/>
                  </a:lnTo>
                  <a:lnTo>
                    <a:pt x="5625211" y="1284859"/>
                  </a:lnTo>
                  <a:lnTo>
                    <a:pt x="5608320" y="1284859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C8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24560" y="2194560"/>
            <a:ext cx="4206240" cy="950976"/>
            <a:chOff x="0" y="0"/>
            <a:chExt cx="5608320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083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3" r="0" b="-3618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60832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CALICO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863" y="3462023"/>
            <a:ext cx="4231643" cy="976379"/>
            <a:chOff x="0" y="0"/>
            <a:chExt cx="5642191" cy="1301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6083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EC97D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42102" cy="1301750"/>
            </a:xfrm>
            <a:custGeom>
              <a:avLst/>
              <a:gdLst/>
              <a:ahLst/>
              <a:cxnLst/>
              <a:rect r="r" b="b" t="t" l="l"/>
              <a:pathLst>
                <a:path h="1301750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284859"/>
                  </a:lnTo>
                  <a:cubicBezTo>
                    <a:pt x="5642102" y="1294257"/>
                    <a:pt x="5634482" y="1301750"/>
                    <a:pt x="562521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625211" y="1267968"/>
                  </a:lnTo>
                  <a:lnTo>
                    <a:pt x="5625211" y="1284859"/>
                  </a:lnTo>
                  <a:lnTo>
                    <a:pt x="5608320" y="1284859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EC97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624560" y="3474720"/>
            <a:ext cx="4206240" cy="950976"/>
            <a:chOff x="0" y="0"/>
            <a:chExt cx="5608320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3" r="0" b="-361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60832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CILIUM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" y="914400"/>
            <a:ext cx="12252960" cy="1005840"/>
            <a:chOff x="0" y="0"/>
            <a:chExt cx="1633728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337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363" r="0" b="-18736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6337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Comparison of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0080" y="1737360"/>
            <a:ext cx="12252960" cy="1426464"/>
            <a:chOff x="0" y="0"/>
            <a:chExt cx="16337280" cy="19019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3372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71" r="0" b="-11737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52400"/>
              <a:ext cx="16337280" cy="2054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Kubernetes CNI Plugins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7383" y="3242567"/>
            <a:ext cx="4597403" cy="116843"/>
            <a:chOff x="0" y="0"/>
            <a:chExt cx="6129871" cy="1557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6096000" cy="121920"/>
            </a:xfrm>
            <a:custGeom>
              <a:avLst/>
              <a:gdLst/>
              <a:ahLst/>
              <a:cxnLst/>
              <a:rect r="r" b="b" t="t" l="l"/>
              <a:pathLst>
                <a:path h="1219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29782" cy="155704"/>
            </a:xfrm>
            <a:custGeom>
              <a:avLst/>
              <a:gdLst/>
              <a:ahLst/>
              <a:cxnLst/>
              <a:rect r="r" b="b" t="t" l="l"/>
              <a:pathLst>
                <a:path h="155704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38811"/>
                  </a:lnTo>
                  <a:cubicBezTo>
                    <a:pt x="6129782" y="148209"/>
                    <a:pt x="6122162" y="155702"/>
                    <a:pt x="61128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6112891" y="121920"/>
                  </a:lnTo>
                  <a:lnTo>
                    <a:pt x="6112891" y="138811"/>
                  </a:lnTo>
                  <a:lnTo>
                    <a:pt x="6096000" y="13881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0080" y="3566160"/>
            <a:ext cx="12252960" cy="731520"/>
            <a:chOff x="0" y="0"/>
            <a:chExt cx="1633728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337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374" r="0" b="-27637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6337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 B  ·  Multi-Node Microservice Communication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7383" y="4650743"/>
            <a:ext cx="12004043" cy="4963163"/>
            <a:chOff x="0" y="0"/>
            <a:chExt cx="16005391" cy="66175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5971519" cy="6583681"/>
            </a:xfrm>
            <a:custGeom>
              <a:avLst/>
              <a:gdLst/>
              <a:ahLst/>
              <a:cxnLst/>
              <a:rect r="r" b="b" t="t" l="l"/>
              <a:pathLst>
                <a:path h="6583681" w="15971519">
                  <a:moveTo>
                    <a:pt x="0" y="0"/>
                  </a:moveTo>
                  <a:lnTo>
                    <a:pt x="15971519" y="0"/>
                  </a:lnTo>
                  <a:lnTo>
                    <a:pt x="15971519" y="6583681"/>
                  </a:lnTo>
                  <a:lnTo>
                    <a:pt x="0" y="6583681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005302" cy="6617462"/>
            </a:xfrm>
            <a:custGeom>
              <a:avLst/>
              <a:gdLst/>
              <a:ahLst/>
              <a:cxnLst/>
              <a:rect r="r" b="b" t="t" l="l"/>
              <a:pathLst>
                <a:path h="6617462" w="16005302">
                  <a:moveTo>
                    <a:pt x="16891" y="0"/>
                  </a:moveTo>
                  <a:lnTo>
                    <a:pt x="15988410" y="0"/>
                  </a:lnTo>
                  <a:cubicBezTo>
                    <a:pt x="15997808" y="0"/>
                    <a:pt x="16005302" y="7620"/>
                    <a:pt x="16005302" y="16891"/>
                  </a:cubicBezTo>
                  <a:lnTo>
                    <a:pt x="16005302" y="6600572"/>
                  </a:lnTo>
                  <a:cubicBezTo>
                    <a:pt x="16005302" y="6609969"/>
                    <a:pt x="15997682" y="6617462"/>
                    <a:pt x="15988410" y="6617462"/>
                  </a:cubicBezTo>
                  <a:lnTo>
                    <a:pt x="16891" y="6617462"/>
                  </a:lnTo>
                  <a:cubicBezTo>
                    <a:pt x="7493" y="6617462"/>
                    <a:pt x="0" y="6609842"/>
                    <a:pt x="0" y="6600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600572"/>
                  </a:lnTo>
                  <a:lnTo>
                    <a:pt x="16891" y="6600572"/>
                  </a:lnTo>
                  <a:lnTo>
                    <a:pt x="16891" y="6583680"/>
                  </a:lnTo>
                  <a:lnTo>
                    <a:pt x="15988410" y="6583680"/>
                  </a:lnTo>
                  <a:lnTo>
                    <a:pt x="15988410" y="6600572"/>
                  </a:lnTo>
                  <a:lnTo>
                    <a:pt x="15971520" y="6600572"/>
                  </a:lnTo>
                  <a:lnTo>
                    <a:pt x="15971520" y="16891"/>
                  </a:lnTo>
                  <a:lnTo>
                    <a:pt x="15988410" y="16891"/>
                  </a:lnTo>
                  <a:lnTo>
                    <a:pt x="15988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05840" y="4846320"/>
            <a:ext cx="11155680" cy="640080"/>
            <a:chOff x="0" y="0"/>
            <a:chExt cx="1487424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874239" cy="853440"/>
            </a:xfrm>
            <a:custGeom>
              <a:avLst/>
              <a:gdLst/>
              <a:ahLst/>
              <a:cxnLst/>
              <a:rect r="r" b="b" t="t" l="l"/>
              <a:pathLst>
                <a:path h="85344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48742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 7  —  Team Members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5840" y="5669280"/>
            <a:ext cx="10972800" cy="658368"/>
            <a:chOff x="0" y="0"/>
            <a:chExt cx="1463040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630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Suman Moond        MT25047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" y="6510528"/>
            <a:ext cx="10972800" cy="658368"/>
            <a:chOff x="0" y="0"/>
            <a:chExt cx="14630400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4630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Jatin Agrawal        MT25027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840" y="7351776"/>
            <a:ext cx="10972800" cy="658368"/>
            <a:chOff x="0" y="0"/>
            <a:chExt cx="1463040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4630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Shivam Minde        MT25043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5840" y="8193024"/>
            <a:ext cx="10972800" cy="658368"/>
            <a:chOff x="0" y="0"/>
            <a:chExt cx="1463040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4630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Jalakam Chandra Harsha  MT25022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Impact of CNI Plugin Selection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1596647"/>
            <a:ext cx="8255003" cy="8163563"/>
            <a:chOff x="0" y="0"/>
            <a:chExt cx="11006671" cy="108847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972800" cy="10850881"/>
            </a:xfrm>
            <a:custGeom>
              <a:avLst/>
              <a:gdLst/>
              <a:ahLst/>
              <a:cxnLst/>
              <a:rect r="r" b="b" t="t" l="l"/>
              <a:pathLst>
                <a:path h="108508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850881"/>
                  </a:lnTo>
                  <a:lnTo>
                    <a:pt x="0" y="10850881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6582" cy="10884662"/>
            </a:xfrm>
            <a:custGeom>
              <a:avLst/>
              <a:gdLst/>
              <a:ahLst/>
              <a:cxnLst/>
              <a:rect r="r" b="b" t="t" l="l"/>
              <a:pathLst>
                <a:path h="108846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867772"/>
                  </a:lnTo>
                  <a:cubicBezTo>
                    <a:pt x="11006582" y="10877169"/>
                    <a:pt x="10998962" y="10884662"/>
                    <a:pt x="10989691" y="10884662"/>
                  </a:cubicBezTo>
                  <a:lnTo>
                    <a:pt x="16891" y="10884662"/>
                  </a:lnTo>
                  <a:cubicBezTo>
                    <a:pt x="7493" y="10884662"/>
                    <a:pt x="0" y="10877042"/>
                    <a:pt x="0" y="10867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67772"/>
                  </a:lnTo>
                  <a:lnTo>
                    <a:pt x="16891" y="10867772"/>
                  </a:lnTo>
                  <a:lnTo>
                    <a:pt x="16891" y="10850880"/>
                  </a:lnTo>
                  <a:lnTo>
                    <a:pt x="10989691" y="10850880"/>
                  </a:lnTo>
                  <a:lnTo>
                    <a:pt x="10989691" y="10867772"/>
                  </a:lnTo>
                  <a:lnTo>
                    <a:pt x="10972800" y="108677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792224"/>
            <a:ext cx="7498080" cy="694944"/>
            <a:chOff x="0" y="0"/>
            <a:chExt cx="999744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Core Challenge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2706624"/>
            <a:ext cx="7498080" cy="548640"/>
            <a:chOff x="0" y="0"/>
            <a:chExt cx="99974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CNI as a Networking Backbone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3255264"/>
            <a:ext cx="7498080" cy="1389888"/>
            <a:chOff x="0" y="0"/>
            <a:chExt cx="9997440" cy="1853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Kubernetes cluster needs a Container Network Interface plugin to handle pod-to-pod traffic routing across nodes.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4864608"/>
            <a:ext cx="7498080" cy="548640"/>
            <a:chOff x="0" y="0"/>
            <a:chExt cx="99974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Architectural Diversity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5413248"/>
            <a:ext cx="7498080" cy="1389888"/>
            <a:chOff x="0" y="0"/>
            <a:chExt cx="9997440" cy="1853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744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CNI plugins differ drastically: VXLAN overlays, native BGP routing, and eBPF kernel bypasses represent fundamentally different design philosophies.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7022592"/>
            <a:ext cx="7498080" cy="548640"/>
            <a:chOff x="0" y="0"/>
            <a:chExt cx="99974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Uninformed Selection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1520" y="7571232"/>
            <a:ext cx="7498080" cy="1389888"/>
            <a:chOff x="0" y="0"/>
            <a:chExt cx="9997440" cy="1853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1853184"/>
            </a:xfrm>
            <a:custGeom>
              <a:avLst/>
              <a:gdLst/>
              <a:ahLst/>
              <a:cxnLst/>
              <a:rect r="r" b="b" t="t" l="l"/>
              <a:pathLst>
                <a:path h="185318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9744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Despite this diversity, most teams choose a CNI based on documentation familiarity or vendor defaults rather than empirical performance data.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48423" y="1596647"/>
            <a:ext cx="8986523" cy="3865883"/>
            <a:chOff x="0" y="0"/>
            <a:chExt cx="11982031" cy="51545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9481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819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5137531"/>
                  </a:lnTo>
                  <a:cubicBezTo>
                    <a:pt x="11981942" y="5146929"/>
                    <a:pt x="11974322" y="5154422"/>
                    <a:pt x="119650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965051" y="5120640"/>
                  </a:lnTo>
                  <a:lnTo>
                    <a:pt x="11965051" y="5137531"/>
                  </a:lnTo>
                  <a:lnTo>
                    <a:pt x="11948160" y="513753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948423" y="1596647"/>
            <a:ext cx="8986523" cy="135131"/>
            <a:chOff x="0" y="0"/>
            <a:chExt cx="11982031" cy="180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948160" cy="146304"/>
            </a:xfrm>
            <a:custGeom>
              <a:avLst/>
              <a:gdLst/>
              <a:ahLst/>
              <a:cxnLst/>
              <a:rect r="r" b="b" t="t" l="l"/>
              <a:pathLst>
                <a:path h="146304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81942" cy="180088"/>
            </a:xfrm>
            <a:custGeom>
              <a:avLst/>
              <a:gdLst/>
              <a:ahLst/>
              <a:cxnLst/>
              <a:rect r="r" b="b" t="t" l="l"/>
              <a:pathLst>
                <a:path h="180088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163195"/>
                  </a:lnTo>
                  <a:cubicBezTo>
                    <a:pt x="11981942" y="172593"/>
                    <a:pt x="11974322" y="180086"/>
                    <a:pt x="119650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965051" y="146304"/>
                  </a:lnTo>
                  <a:lnTo>
                    <a:pt x="11965051" y="163195"/>
                  </a:lnTo>
                  <a:lnTo>
                    <a:pt x="11948160" y="163195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35440" y="1792224"/>
            <a:ext cx="8412480" cy="640080"/>
            <a:chOff x="0" y="0"/>
            <a:chExt cx="1121664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35440" y="2487168"/>
            <a:ext cx="8412480" cy="2560320"/>
            <a:chOff x="0" y="0"/>
            <a:chExt cx="11216640" cy="3413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166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1216640" cy="3451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choice of CNI directly dictates service-chain latency and maximum throughput in a multi-node cluster, yet this decision is routinely made without any quantitative performance evidence.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948423" y="5748023"/>
            <a:ext cx="8986523" cy="4012187"/>
            <a:chOff x="0" y="0"/>
            <a:chExt cx="11982031" cy="53495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948160" cy="5315712"/>
            </a:xfrm>
            <a:custGeom>
              <a:avLst/>
              <a:gdLst/>
              <a:ahLst/>
              <a:cxnLst/>
              <a:rect r="r" b="b" t="t" l="l"/>
              <a:pathLst>
                <a:path h="531571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315712"/>
                  </a:lnTo>
                  <a:lnTo>
                    <a:pt x="0" y="531571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981942" cy="5349494"/>
            </a:xfrm>
            <a:custGeom>
              <a:avLst/>
              <a:gdLst/>
              <a:ahLst/>
              <a:cxnLst/>
              <a:rect r="r" b="b" t="t" l="l"/>
              <a:pathLst>
                <a:path h="534949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5332603"/>
                  </a:lnTo>
                  <a:cubicBezTo>
                    <a:pt x="11981942" y="5342001"/>
                    <a:pt x="11974322" y="5349494"/>
                    <a:pt x="11965051" y="5349494"/>
                  </a:cubicBezTo>
                  <a:lnTo>
                    <a:pt x="16891" y="5349494"/>
                  </a:lnTo>
                  <a:cubicBezTo>
                    <a:pt x="7493" y="5349494"/>
                    <a:pt x="0" y="5341874"/>
                    <a:pt x="0" y="5332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32603"/>
                  </a:lnTo>
                  <a:lnTo>
                    <a:pt x="16891" y="5332603"/>
                  </a:lnTo>
                  <a:lnTo>
                    <a:pt x="16891" y="5315712"/>
                  </a:lnTo>
                  <a:lnTo>
                    <a:pt x="11965051" y="5315712"/>
                  </a:lnTo>
                  <a:lnTo>
                    <a:pt x="11965051" y="5332603"/>
                  </a:lnTo>
                  <a:lnTo>
                    <a:pt x="11948160" y="5332603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948423" y="5748023"/>
            <a:ext cx="8986523" cy="135131"/>
            <a:chOff x="0" y="0"/>
            <a:chExt cx="11982031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948160" cy="146304"/>
            </a:xfrm>
            <a:custGeom>
              <a:avLst/>
              <a:gdLst/>
              <a:ahLst/>
              <a:cxnLst/>
              <a:rect r="r" b="b" t="t" l="l"/>
              <a:pathLst>
                <a:path h="146304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81942" cy="180088"/>
            </a:xfrm>
            <a:custGeom>
              <a:avLst/>
              <a:gdLst/>
              <a:ahLst/>
              <a:cxnLst/>
              <a:rect r="r" b="b" t="t" l="l"/>
              <a:pathLst>
                <a:path h="180088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163195"/>
                  </a:lnTo>
                  <a:cubicBezTo>
                    <a:pt x="11981942" y="172593"/>
                    <a:pt x="11974322" y="180086"/>
                    <a:pt x="119650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965051" y="146304"/>
                  </a:lnTo>
                  <a:lnTo>
                    <a:pt x="11965051" y="163195"/>
                  </a:lnTo>
                  <a:lnTo>
                    <a:pt x="11948160" y="163195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235440" y="5943600"/>
            <a:ext cx="8412480" cy="640080"/>
            <a:chOff x="0" y="0"/>
            <a:chExt cx="1121664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35440" y="6638544"/>
            <a:ext cx="8412480" cy="2926080"/>
            <a:chOff x="0" y="0"/>
            <a:chExt cx="11216640" cy="3901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216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21664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Conduct a controlled, empirical benchmark comparing Flannel (VXLAN), Calico (BGP/L3), and Cilium (eBPF) in an identical 3-node, multi-hop microservice topology — providing infrastructure teams with the data needed to make informed decisions.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Benchmark Matters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Motivation &amp; Real-World Relevance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1541783"/>
            <a:ext cx="8620763" cy="3957323"/>
            <a:chOff x="0" y="0"/>
            <a:chExt cx="11494351" cy="52764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460481" cy="5242560"/>
            </a:xfrm>
            <a:custGeom>
              <a:avLst/>
              <a:gdLst/>
              <a:ahLst/>
              <a:cxnLst/>
              <a:rect r="r" b="b" t="t" l="l"/>
              <a:pathLst>
                <a:path h="52425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94262" cy="5276342"/>
            </a:xfrm>
            <a:custGeom>
              <a:avLst/>
              <a:gdLst/>
              <a:ahLst/>
              <a:cxnLst/>
              <a:rect r="r" b="b" t="t" l="l"/>
              <a:pathLst>
                <a:path h="52763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259451"/>
                  </a:lnTo>
                  <a:cubicBezTo>
                    <a:pt x="11494262" y="5268849"/>
                    <a:pt x="11486642" y="5276342"/>
                    <a:pt x="11477372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11477372" y="5242560"/>
                  </a:lnTo>
                  <a:lnTo>
                    <a:pt x="11477372" y="5259451"/>
                  </a:lnTo>
                  <a:lnTo>
                    <a:pt x="11460480" y="52594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53063" y="1541783"/>
            <a:ext cx="8620763" cy="135131"/>
            <a:chOff x="0" y="0"/>
            <a:chExt cx="11494351" cy="180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460481" cy="146304"/>
            </a:xfrm>
            <a:custGeom>
              <a:avLst/>
              <a:gdLst/>
              <a:ahLst/>
              <a:cxnLst/>
              <a:rect r="r" b="b" t="t" l="l"/>
              <a:pathLst>
                <a:path h="14630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94262" cy="180088"/>
            </a:xfrm>
            <a:custGeom>
              <a:avLst/>
              <a:gdLst/>
              <a:ahLst/>
              <a:cxnLst/>
              <a:rect r="r" b="b" t="t" l="l"/>
              <a:pathLst>
                <a:path h="18008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63195"/>
                  </a:lnTo>
                  <a:cubicBezTo>
                    <a:pt x="11494262" y="172593"/>
                    <a:pt x="11486642" y="180086"/>
                    <a:pt x="114773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477372" y="146304"/>
                  </a:lnTo>
                  <a:lnTo>
                    <a:pt x="11477372" y="163195"/>
                  </a:lnTo>
                  <a:lnTo>
                    <a:pt x="11460480" y="16319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2247" y="1797815"/>
            <a:ext cx="903227" cy="903227"/>
            <a:chOff x="0" y="0"/>
            <a:chExt cx="1204303" cy="12043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94944" y="1810512"/>
            <a:ext cx="877824" cy="877824"/>
            <a:chOff x="0" y="0"/>
            <a:chExt cx="11704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55648" y="1883664"/>
            <a:ext cx="6766560" cy="694944"/>
            <a:chOff x="0" y="0"/>
            <a:chExt cx="902208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0220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Microservice Chaining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" y="2798064"/>
            <a:ext cx="7900416" cy="2468880"/>
            <a:chOff x="0" y="0"/>
            <a:chExt cx="10533888" cy="3291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338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533888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distributed applications depend on multi-hop request paths — e.g., Service A calls B which calls C. Each network boundary introduces latency, and the CNI governs how efficiently those hops are resolved.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14183" y="1541783"/>
            <a:ext cx="8620763" cy="3957323"/>
            <a:chOff x="0" y="0"/>
            <a:chExt cx="11494351" cy="52764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460481" cy="5242560"/>
            </a:xfrm>
            <a:custGeom>
              <a:avLst/>
              <a:gdLst/>
              <a:ahLst/>
              <a:cxnLst/>
              <a:rect r="r" b="b" t="t" l="l"/>
              <a:pathLst>
                <a:path h="52425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94262" cy="5276342"/>
            </a:xfrm>
            <a:custGeom>
              <a:avLst/>
              <a:gdLst/>
              <a:ahLst/>
              <a:cxnLst/>
              <a:rect r="r" b="b" t="t" l="l"/>
              <a:pathLst>
                <a:path h="52763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259451"/>
                  </a:lnTo>
                  <a:cubicBezTo>
                    <a:pt x="11494262" y="5268849"/>
                    <a:pt x="11486642" y="5276342"/>
                    <a:pt x="11477372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11477372" y="5242560"/>
                  </a:lnTo>
                  <a:lnTo>
                    <a:pt x="11477372" y="5259451"/>
                  </a:lnTo>
                  <a:lnTo>
                    <a:pt x="11460480" y="52594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14183" y="1541783"/>
            <a:ext cx="8620763" cy="135131"/>
            <a:chOff x="0" y="0"/>
            <a:chExt cx="11494351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460481" cy="146304"/>
            </a:xfrm>
            <a:custGeom>
              <a:avLst/>
              <a:gdLst/>
              <a:ahLst/>
              <a:cxnLst/>
              <a:rect r="r" b="b" t="t" l="l"/>
              <a:pathLst>
                <a:path h="14630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494262" cy="180088"/>
            </a:xfrm>
            <a:custGeom>
              <a:avLst/>
              <a:gdLst/>
              <a:ahLst/>
              <a:cxnLst/>
              <a:rect r="r" b="b" t="t" l="l"/>
              <a:pathLst>
                <a:path h="18008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63195"/>
                  </a:lnTo>
                  <a:cubicBezTo>
                    <a:pt x="11494262" y="172593"/>
                    <a:pt x="11486642" y="180086"/>
                    <a:pt x="114773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477372" y="146304"/>
                  </a:lnTo>
                  <a:lnTo>
                    <a:pt x="11477372" y="163195"/>
                  </a:lnTo>
                  <a:lnTo>
                    <a:pt x="11460480" y="16319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43367" y="1797815"/>
            <a:ext cx="903227" cy="903227"/>
            <a:chOff x="0" y="0"/>
            <a:chExt cx="1204303" cy="12043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656064" y="1810512"/>
            <a:ext cx="877824" cy="877824"/>
            <a:chOff x="0" y="0"/>
            <a:chExt cx="1170432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16768" y="1883664"/>
            <a:ext cx="6766560" cy="694944"/>
            <a:chOff x="0" y="0"/>
            <a:chExt cx="902208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0220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Compounding Tail Latency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56064" y="2798064"/>
            <a:ext cx="7900416" cy="2468880"/>
            <a:chOff x="0" y="0"/>
            <a:chExt cx="10533888" cy="3291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5338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533888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Microsecond overheads at each individual hop accumulate into milliseconds at the user-facing edge. Tail latency (p95/p99) is the metric that users actually feel — a slow CNI directly degrades perceived application responsiveness.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53063" y="5748023"/>
            <a:ext cx="8620763" cy="3957323"/>
            <a:chOff x="0" y="0"/>
            <a:chExt cx="11494351" cy="5276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460481" cy="5242560"/>
            </a:xfrm>
            <a:custGeom>
              <a:avLst/>
              <a:gdLst/>
              <a:ahLst/>
              <a:cxnLst/>
              <a:rect r="r" b="b" t="t" l="l"/>
              <a:pathLst>
                <a:path h="52425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494262" cy="5276342"/>
            </a:xfrm>
            <a:custGeom>
              <a:avLst/>
              <a:gdLst/>
              <a:ahLst/>
              <a:cxnLst/>
              <a:rect r="r" b="b" t="t" l="l"/>
              <a:pathLst>
                <a:path h="52763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259451"/>
                  </a:lnTo>
                  <a:cubicBezTo>
                    <a:pt x="11494262" y="5268849"/>
                    <a:pt x="11486642" y="5276342"/>
                    <a:pt x="11477372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11477372" y="5242560"/>
                  </a:lnTo>
                  <a:lnTo>
                    <a:pt x="11477372" y="5259451"/>
                  </a:lnTo>
                  <a:lnTo>
                    <a:pt x="11460480" y="52594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53063" y="5748023"/>
            <a:ext cx="8620763" cy="135131"/>
            <a:chOff x="0" y="0"/>
            <a:chExt cx="11494351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460481" cy="146304"/>
            </a:xfrm>
            <a:custGeom>
              <a:avLst/>
              <a:gdLst/>
              <a:ahLst/>
              <a:cxnLst/>
              <a:rect r="r" b="b" t="t" l="l"/>
              <a:pathLst>
                <a:path h="14630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94262" cy="180088"/>
            </a:xfrm>
            <a:custGeom>
              <a:avLst/>
              <a:gdLst/>
              <a:ahLst/>
              <a:cxnLst/>
              <a:rect r="r" b="b" t="t" l="l"/>
              <a:pathLst>
                <a:path h="18008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63195"/>
                  </a:lnTo>
                  <a:cubicBezTo>
                    <a:pt x="11494262" y="172593"/>
                    <a:pt x="11486642" y="180086"/>
                    <a:pt x="114773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477372" y="146304"/>
                  </a:lnTo>
                  <a:lnTo>
                    <a:pt x="11477372" y="163195"/>
                  </a:lnTo>
                  <a:lnTo>
                    <a:pt x="11460480" y="16319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82247" y="6004055"/>
            <a:ext cx="903227" cy="903227"/>
            <a:chOff x="0" y="0"/>
            <a:chExt cx="1204303" cy="12043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94944" y="6016752"/>
            <a:ext cx="877824" cy="877824"/>
            <a:chOff x="0" y="0"/>
            <a:chExt cx="1170432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55648" y="6089904"/>
            <a:ext cx="6766560" cy="694944"/>
            <a:chOff x="0" y="0"/>
            <a:chExt cx="902208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0220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 Cost Implications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94944" y="7004304"/>
            <a:ext cx="7900416" cy="2468880"/>
            <a:chOff x="0" y="0"/>
            <a:chExt cx="10533888" cy="3291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5338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533888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inefficient CNI consumes excess CPU and memory headroom per node, forcing operators to provision additional nodes to sustain the same request load — a direct, quantifiable cost multiplier.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14183" y="5748023"/>
            <a:ext cx="8620763" cy="3957323"/>
            <a:chOff x="0" y="0"/>
            <a:chExt cx="11494351" cy="52764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460481" cy="5242560"/>
            </a:xfrm>
            <a:custGeom>
              <a:avLst/>
              <a:gdLst/>
              <a:ahLst/>
              <a:cxnLst/>
              <a:rect r="r" b="b" t="t" l="l"/>
              <a:pathLst>
                <a:path h="52425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494262" cy="5276342"/>
            </a:xfrm>
            <a:custGeom>
              <a:avLst/>
              <a:gdLst/>
              <a:ahLst/>
              <a:cxnLst/>
              <a:rect r="r" b="b" t="t" l="l"/>
              <a:pathLst>
                <a:path h="52763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259451"/>
                  </a:lnTo>
                  <a:cubicBezTo>
                    <a:pt x="11494262" y="5268849"/>
                    <a:pt x="11486642" y="5276342"/>
                    <a:pt x="11477372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11477372" y="5242560"/>
                  </a:lnTo>
                  <a:lnTo>
                    <a:pt x="11477372" y="5259451"/>
                  </a:lnTo>
                  <a:lnTo>
                    <a:pt x="11460480" y="52594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14183" y="5748023"/>
            <a:ext cx="8620763" cy="135131"/>
            <a:chOff x="0" y="0"/>
            <a:chExt cx="11494351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460481" cy="146304"/>
            </a:xfrm>
            <a:custGeom>
              <a:avLst/>
              <a:gdLst/>
              <a:ahLst/>
              <a:cxnLst/>
              <a:rect r="r" b="b" t="t" l="l"/>
              <a:pathLst>
                <a:path h="146304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05A5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494262" cy="180088"/>
            </a:xfrm>
            <a:custGeom>
              <a:avLst/>
              <a:gdLst/>
              <a:ahLst/>
              <a:cxnLst/>
              <a:rect r="r" b="b" t="t" l="l"/>
              <a:pathLst>
                <a:path h="180088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63195"/>
                  </a:lnTo>
                  <a:cubicBezTo>
                    <a:pt x="11494262" y="172593"/>
                    <a:pt x="11486642" y="180086"/>
                    <a:pt x="114773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477372" y="146304"/>
                  </a:lnTo>
                  <a:lnTo>
                    <a:pt x="11477372" y="163195"/>
                  </a:lnTo>
                  <a:lnTo>
                    <a:pt x="11460480" y="163195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A5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43367" y="6004055"/>
            <a:ext cx="903227" cy="903227"/>
            <a:chOff x="0" y="0"/>
            <a:chExt cx="1204303" cy="120430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E05A5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04341" cy="1204214"/>
            </a:xfrm>
            <a:custGeom>
              <a:avLst/>
              <a:gdLst/>
              <a:ahLst/>
              <a:cxnLst/>
              <a:rect r="r" b="b" t="t" l="l"/>
              <a:pathLst>
                <a:path h="1204214" w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lnTo>
                    <a:pt x="602107" y="16891"/>
                  </a:lnTo>
                  <a:lnTo>
                    <a:pt x="602107" y="0"/>
                  </a:lnTo>
                  <a:cubicBezTo>
                    <a:pt x="934720" y="0"/>
                    <a:pt x="1204341" y="269621"/>
                    <a:pt x="1204341" y="602107"/>
                  </a:cubicBezTo>
                  <a:lnTo>
                    <a:pt x="1187323" y="602107"/>
                  </a:lnTo>
                  <a:lnTo>
                    <a:pt x="1204214" y="602107"/>
                  </a:lnTo>
                  <a:cubicBezTo>
                    <a:pt x="1204214" y="934720"/>
                    <a:pt x="934593" y="1204214"/>
                    <a:pt x="602107" y="1204214"/>
                  </a:cubicBezTo>
                  <a:lnTo>
                    <a:pt x="602107" y="1187323"/>
                  </a:lnTo>
                  <a:lnTo>
                    <a:pt x="602107" y="1204214"/>
                  </a:lnTo>
                  <a:cubicBezTo>
                    <a:pt x="269621" y="1204341"/>
                    <a:pt x="0" y="934720"/>
                    <a:pt x="0" y="602107"/>
                  </a:cubicBezTo>
                  <a:lnTo>
                    <a:pt x="16891" y="602107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0" y="602107"/>
                  </a:lnTo>
                  <a:moveTo>
                    <a:pt x="33909" y="602107"/>
                  </a:moveTo>
                  <a:cubicBezTo>
                    <a:pt x="33909" y="611505"/>
                    <a:pt x="26289" y="618998"/>
                    <a:pt x="17018" y="618998"/>
                  </a:cubicBezTo>
                  <a:cubicBezTo>
                    <a:pt x="7747" y="618998"/>
                    <a:pt x="0" y="611505"/>
                    <a:pt x="0" y="602107"/>
                  </a:cubicBezTo>
                  <a:cubicBezTo>
                    <a:pt x="0" y="592709"/>
                    <a:pt x="7620" y="585216"/>
                    <a:pt x="16891" y="585216"/>
                  </a:cubicBezTo>
                  <a:cubicBezTo>
                    <a:pt x="26162" y="585216"/>
                    <a:pt x="33782" y="592836"/>
                    <a:pt x="33782" y="602107"/>
                  </a:cubicBezTo>
                  <a:cubicBezTo>
                    <a:pt x="33782" y="915924"/>
                    <a:pt x="288163" y="1170432"/>
                    <a:pt x="602107" y="1170432"/>
                  </a:cubicBezTo>
                  <a:cubicBezTo>
                    <a:pt x="915924" y="1170432"/>
                    <a:pt x="1170432" y="916051"/>
                    <a:pt x="1170432" y="602107"/>
                  </a:cubicBezTo>
                  <a:cubicBezTo>
                    <a:pt x="1170432" y="288290"/>
                    <a:pt x="916051" y="33782"/>
                    <a:pt x="602107" y="33782"/>
                  </a:cubicBezTo>
                  <a:lnTo>
                    <a:pt x="602107" y="16891"/>
                  </a:lnTo>
                  <a:lnTo>
                    <a:pt x="602107" y="33909"/>
                  </a:lnTo>
                  <a:cubicBezTo>
                    <a:pt x="288290" y="33909"/>
                    <a:pt x="33909" y="288290"/>
                    <a:pt x="33909" y="602107"/>
                  </a:cubicBezTo>
                  <a:close/>
                </a:path>
              </a:pathLst>
            </a:custGeom>
            <a:solidFill>
              <a:srgbClr val="E05A5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56064" y="6016752"/>
            <a:ext cx="877824" cy="877824"/>
            <a:chOff x="0" y="0"/>
            <a:chExt cx="1170432" cy="11704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17043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716768" y="6089904"/>
            <a:ext cx="6766560" cy="694944"/>
            <a:chOff x="0" y="0"/>
            <a:chExt cx="90220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022080" cy="926592"/>
            </a:xfrm>
            <a:custGeom>
              <a:avLst/>
              <a:gdLst/>
              <a:ahLst/>
              <a:cxnLst/>
              <a:rect r="r" b="b" t="t" l="l"/>
              <a:pathLst>
                <a:path h="92659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722" r="0" b="-13972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0220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Data-Driven Infrastructure Decisions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56064" y="7004304"/>
            <a:ext cx="7900416" cy="2468880"/>
            <a:chOff x="0" y="0"/>
            <a:chExt cx="10533888" cy="3291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5338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533888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lists and vendor documentation cannot replace benchmark data. Teams optimizing for latency, throughput, or resource efficiency need reproducible empirical numbers to validate architectural choices.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Testbed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3-Node Kubernetes Cluster — Multi-Hop Service Chain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1797" y="2443477"/>
            <a:ext cx="3799837" cy="2062477"/>
            <a:chOff x="0" y="0"/>
            <a:chExt cx="5066449" cy="27499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3909" y="33909"/>
              <a:ext cx="49987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665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5066538">
                  <a:moveTo>
                    <a:pt x="33909" y="0"/>
                  </a:moveTo>
                  <a:lnTo>
                    <a:pt x="5032629" y="0"/>
                  </a:lnTo>
                  <a:cubicBezTo>
                    <a:pt x="5051298" y="0"/>
                    <a:pt x="5066538" y="15113"/>
                    <a:pt x="5066538" y="33909"/>
                  </a:cubicBezTo>
                  <a:lnTo>
                    <a:pt x="5066538" y="2716149"/>
                  </a:lnTo>
                  <a:cubicBezTo>
                    <a:pt x="5066538" y="2734818"/>
                    <a:pt x="5051425" y="2750058"/>
                    <a:pt x="50326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5032629" y="2682240"/>
                  </a:lnTo>
                  <a:lnTo>
                    <a:pt x="5032629" y="2716149"/>
                  </a:lnTo>
                  <a:lnTo>
                    <a:pt x="4998720" y="2716149"/>
                  </a:lnTo>
                  <a:lnTo>
                    <a:pt x="4998720" y="33909"/>
                  </a:lnTo>
                  <a:lnTo>
                    <a:pt x="5032629" y="33909"/>
                  </a:lnTo>
                  <a:lnTo>
                    <a:pt x="50326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2615184"/>
            <a:ext cx="3749040" cy="914400"/>
            <a:chOff x="0" y="0"/>
            <a:chExt cx="49987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9987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External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74493" y="3442973"/>
            <a:ext cx="886463" cy="63503"/>
            <a:chOff x="0" y="0"/>
            <a:chExt cx="1181951" cy="846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2291" y="0"/>
              <a:ext cx="1097280" cy="84709"/>
            </a:xfrm>
            <a:custGeom>
              <a:avLst/>
              <a:gdLst/>
              <a:ahLst/>
              <a:cxnLst/>
              <a:rect r="r" b="b" t="t" l="l"/>
              <a:pathLst>
                <a:path h="84709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882896" y="3291840"/>
            <a:ext cx="365760" cy="365760"/>
            <a:chOff x="0" y="0"/>
            <a:chExt cx="487680" cy="487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546597" y="2443477"/>
            <a:ext cx="3799837" cy="2062477"/>
            <a:chOff x="0" y="0"/>
            <a:chExt cx="5066449" cy="27499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3909" y="33909"/>
              <a:ext cx="49987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665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5066538">
                  <a:moveTo>
                    <a:pt x="33909" y="0"/>
                  </a:moveTo>
                  <a:lnTo>
                    <a:pt x="5032629" y="0"/>
                  </a:lnTo>
                  <a:cubicBezTo>
                    <a:pt x="5051298" y="0"/>
                    <a:pt x="5066538" y="15113"/>
                    <a:pt x="5066538" y="33909"/>
                  </a:cubicBezTo>
                  <a:lnTo>
                    <a:pt x="5066538" y="2716149"/>
                  </a:lnTo>
                  <a:cubicBezTo>
                    <a:pt x="5066538" y="2734818"/>
                    <a:pt x="5051425" y="2750058"/>
                    <a:pt x="50326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5032629" y="2682240"/>
                  </a:lnTo>
                  <a:lnTo>
                    <a:pt x="5032629" y="2716149"/>
                  </a:lnTo>
                  <a:lnTo>
                    <a:pt x="4998720" y="2716149"/>
                  </a:lnTo>
                  <a:lnTo>
                    <a:pt x="4998720" y="33909"/>
                  </a:lnTo>
                  <a:lnTo>
                    <a:pt x="5032629" y="33909"/>
                  </a:lnTo>
                  <a:lnTo>
                    <a:pt x="50326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572000" y="2615184"/>
            <a:ext cx="3749040" cy="914400"/>
            <a:chOff x="0" y="0"/>
            <a:chExt cx="499872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9987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72000" y="3438144"/>
            <a:ext cx="3749040" cy="585216"/>
            <a:chOff x="0" y="0"/>
            <a:chExt cx="499872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9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26" r="0" b="-748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99872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Worker 1 · Port 30080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89293" y="3442973"/>
            <a:ext cx="886463" cy="63503"/>
            <a:chOff x="0" y="0"/>
            <a:chExt cx="1181951" cy="846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2291" y="0"/>
              <a:ext cx="1097280" cy="84709"/>
            </a:xfrm>
            <a:custGeom>
              <a:avLst/>
              <a:gdLst/>
              <a:ahLst/>
              <a:cxnLst/>
              <a:rect r="r" b="b" t="t" l="l"/>
              <a:pathLst>
                <a:path h="84709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997696" y="3291840"/>
            <a:ext cx="365760" cy="365760"/>
            <a:chOff x="0" y="0"/>
            <a:chExt cx="487680" cy="48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27157" y="2443477"/>
            <a:ext cx="3799837" cy="2062477"/>
            <a:chOff x="0" y="0"/>
            <a:chExt cx="5066449" cy="274996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33909" y="33909"/>
              <a:ext cx="49987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665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5066538">
                  <a:moveTo>
                    <a:pt x="33909" y="0"/>
                  </a:moveTo>
                  <a:lnTo>
                    <a:pt x="5032629" y="0"/>
                  </a:lnTo>
                  <a:cubicBezTo>
                    <a:pt x="5051298" y="0"/>
                    <a:pt x="5066538" y="15113"/>
                    <a:pt x="5066538" y="33909"/>
                  </a:cubicBezTo>
                  <a:lnTo>
                    <a:pt x="5066538" y="2716149"/>
                  </a:lnTo>
                  <a:cubicBezTo>
                    <a:pt x="5066538" y="2734818"/>
                    <a:pt x="5051425" y="2750058"/>
                    <a:pt x="50326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5032629" y="2682240"/>
                  </a:lnTo>
                  <a:lnTo>
                    <a:pt x="5032629" y="2716149"/>
                  </a:lnTo>
                  <a:lnTo>
                    <a:pt x="4998720" y="2716149"/>
                  </a:lnTo>
                  <a:lnTo>
                    <a:pt x="4998720" y="33909"/>
                  </a:lnTo>
                  <a:lnTo>
                    <a:pt x="5032629" y="33909"/>
                  </a:lnTo>
                  <a:lnTo>
                    <a:pt x="50326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052560" y="2615184"/>
            <a:ext cx="3749040" cy="914400"/>
            <a:chOff x="0" y="0"/>
            <a:chExt cx="49987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9987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B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52560" y="3438144"/>
            <a:ext cx="3749040" cy="585216"/>
            <a:chOff x="0" y="0"/>
            <a:chExt cx="4998720" cy="780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9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26" r="0" b="-748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99872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Worker 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769853" y="3442973"/>
            <a:ext cx="886463" cy="63503"/>
            <a:chOff x="0" y="0"/>
            <a:chExt cx="1181951" cy="846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2291" y="0"/>
              <a:ext cx="1097280" cy="84709"/>
            </a:xfrm>
            <a:custGeom>
              <a:avLst/>
              <a:gdLst/>
              <a:ahLst/>
              <a:cxnLst/>
              <a:rect r="r" b="b" t="t" l="l"/>
              <a:pathLst>
                <a:path h="84709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478256" y="3291840"/>
            <a:ext cx="365760" cy="365760"/>
            <a:chOff x="0" y="0"/>
            <a:chExt cx="48768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07717" y="2443477"/>
            <a:ext cx="3799837" cy="2062477"/>
            <a:chOff x="0" y="0"/>
            <a:chExt cx="5066449" cy="274996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33909" y="33909"/>
              <a:ext cx="49987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66538" cy="2750058"/>
            </a:xfrm>
            <a:custGeom>
              <a:avLst/>
              <a:gdLst/>
              <a:ahLst/>
              <a:cxnLst/>
              <a:rect r="r" b="b" t="t" l="l"/>
              <a:pathLst>
                <a:path h="2750058" w="5066538">
                  <a:moveTo>
                    <a:pt x="33909" y="0"/>
                  </a:moveTo>
                  <a:lnTo>
                    <a:pt x="5032629" y="0"/>
                  </a:lnTo>
                  <a:cubicBezTo>
                    <a:pt x="5051298" y="0"/>
                    <a:pt x="5066538" y="15113"/>
                    <a:pt x="5066538" y="33909"/>
                  </a:cubicBezTo>
                  <a:lnTo>
                    <a:pt x="5066538" y="2716149"/>
                  </a:lnTo>
                  <a:cubicBezTo>
                    <a:pt x="5066538" y="2734818"/>
                    <a:pt x="5051425" y="2750058"/>
                    <a:pt x="5032629" y="2750058"/>
                  </a:cubicBezTo>
                  <a:lnTo>
                    <a:pt x="33909" y="2750058"/>
                  </a:lnTo>
                  <a:cubicBezTo>
                    <a:pt x="15240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33909" y="2682240"/>
                  </a:lnTo>
                  <a:lnTo>
                    <a:pt x="5032629" y="2682240"/>
                  </a:lnTo>
                  <a:lnTo>
                    <a:pt x="5032629" y="2716149"/>
                  </a:lnTo>
                  <a:lnTo>
                    <a:pt x="4998720" y="2716149"/>
                  </a:lnTo>
                  <a:lnTo>
                    <a:pt x="4998720" y="33909"/>
                  </a:lnTo>
                  <a:lnTo>
                    <a:pt x="5032629" y="33909"/>
                  </a:lnTo>
                  <a:lnTo>
                    <a:pt x="503262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533120" y="2615184"/>
            <a:ext cx="3749040" cy="914400"/>
            <a:chOff x="0" y="0"/>
            <a:chExt cx="499872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9987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C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533120" y="3438144"/>
            <a:ext cx="3749040" cy="585216"/>
            <a:chOff x="0" y="0"/>
            <a:chExt cx="499872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98720" cy="780288"/>
            </a:xfrm>
            <a:custGeom>
              <a:avLst/>
              <a:gdLst/>
              <a:ahLst/>
              <a:cxnLst/>
              <a:rect r="r" b="b" t="t" l="l"/>
              <a:pathLst>
                <a:path h="7802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26" r="0" b="-748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499872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Worker 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467863" y="4650743"/>
            <a:ext cx="3957323" cy="135131"/>
            <a:chOff x="0" y="0"/>
            <a:chExt cx="5276431" cy="1801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242560" cy="146304"/>
            </a:xfrm>
            <a:custGeom>
              <a:avLst/>
              <a:gdLst/>
              <a:ahLst/>
              <a:cxnLst/>
              <a:rect r="r" b="b" t="t" l="l"/>
              <a:pathLst>
                <a:path h="14630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76342" cy="180088"/>
            </a:xfrm>
            <a:custGeom>
              <a:avLst/>
              <a:gdLst/>
              <a:ahLst/>
              <a:cxnLst/>
              <a:rect r="r" b="b" t="t" l="l"/>
              <a:pathLst>
                <a:path h="180088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63195"/>
                  </a:lnTo>
                  <a:cubicBezTo>
                    <a:pt x="5276342" y="172593"/>
                    <a:pt x="5268722" y="180086"/>
                    <a:pt x="52594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259451" y="146304"/>
                  </a:lnTo>
                  <a:lnTo>
                    <a:pt x="5259451" y="163195"/>
                  </a:lnTo>
                  <a:lnTo>
                    <a:pt x="5242560" y="163195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480560" y="4846320"/>
            <a:ext cx="3931920" cy="512064"/>
            <a:chOff x="0" y="0"/>
            <a:chExt cx="524256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42560" cy="682752"/>
            </a:xfrm>
            <a:custGeom>
              <a:avLst/>
              <a:gdLst/>
              <a:ahLst/>
              <a:cxnLst/>
              <a:rect r="r" b="b" t="t" l="l"/>
              <a:pathLst>
                <a:path h="68275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617" r="0" b="-9961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242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 Node 1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948423" y="4650743"/>
            <a:ext cx="8529323" cy="135131"/>
            <a:chOff x="0" y="0"/>
            <a:chExt cx="11372431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338560" cy="146304"/>
            </a:xfrm>
            <a:custGeom>
              <a:avLst/>
              <a:gdLst/>
              <a:ahLst/>
              <a:cxnLst/>
              <a:rect r="r" b="b" t="t" l="l"/>
              <a:pathLst>
                <a:path h="146304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372342" cy="180088"/>
            </a:xfrm>
            <a:custGeom>
              <a:avLst/>
              <a:gdLst/>
              <a:ahLst/>
              <a:cxnLst/>
              <a:rect r="r" b="b" t="t" l="l"/>
              <a:pathLst>
                <a:path h="180088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63195"/>
                  </a:lnTo>
                  <a:cubicBezTo>
                    <a:pt x="11372342" y="172593"/>
                    <a:pt x="11364722" y="180086"/>
                    <a:pt x="113554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1355451" y="146304"/>
                  </a:lnTo>
                  <a:lnTo>
                    <a:pt x="11355451" y="163195"/>
                  </a:lnTo>
                  <a:lnTo>
                    <a:pt x="11338560" y="163195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961120" y="4846320"/>
            <a:ext cx="8503920" cy="512064"/>
            <a:chOff x="0" y="0"/>
            <a:chExt cx="1133856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3385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590" r="0" b="-27359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1338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 Node 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53063" y="5620007"/>
            <a:ext cx="5694683" cy="3865883"/>
            <a:chOff x="0" y="0"/>
            <a:chExt cx="7592911" cy="51545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53063" y="5620007"/>
            <a:ext cx="5694683" cy="153419"/>
            <a:chOff x="0" y="0"/>
            <a:chExt cx="7592911" cy="20455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94A3B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0080" y="5815584"/>
            <a:ext cx="5120640" cy="640080"/>
            <a:chOff x="0" y="0"/>
            <a:chExt cx="682752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Master Node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40080" y="6583680"/>
            <a:ext cx="5120640" cy="2651760"/>
            <a:chOff x="0" y="0"/>
            <a:chExt cx="6827520" cy="3535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275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442" t="0" r="-1644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827520" cy="357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Dedicated Kubernetes Control Plane. No workloads scheduled. Handles cluster orchestration only.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296663" y="5620007"/>
            <a:ext cx="5694683" cy="3865883"/>
            <a:chOff x="0" y="0"/>
            <a:chExt cx="7592911" cy="51545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296663" y="5620007"/>
            <a:ext cx="5694683" cy="153419"/>
            <a:chOff x="0" y="0"/>
            <a:chExt cx="7592911" cy="2045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583680" y="5815584"/>
            <a:ext cx="5120640" cy="640080"/>
            <a:chOff x="0" y="0"/>
            <a:chExt cx="6827520" cy="8534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 Node 1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583680" y="6583680"/>
            <a:ext cx="5120640" cy="2651760"/>
            <a:chOff x="0" y="0"/>
            <a:chExt cx="6827520" cy="3535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275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442" t="0" r="-1644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827520" cy="357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Hosts Service-A (Frontend). Exposed externally via NodePort 30080 for benchmark traffic ingress.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240263" y="5620007"/>
            <a:ext cx="5694683" cy="3865883"/>
            <a:chOff x="0" y="0"/>
            <a:chExt cx="7592911" cy="51545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240263" y="5620007"/>
            <a:ext cx="5694683" cy="153419"/>
            <a:chOff x="0" y="0"/>
            <a:chExt cx="7592911" cy="20455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527280" y="5815584"/>
            <a:ext cx="5120640" cy="640080"/>
            <a:chOff x="0" y="0"/>
            <a:chExt cx="682752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Worker Node 2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527280" y="6583680"/>
            <a:ext cx="5120640" cy="2651760"/>
            <a:chOff x="0" y="0"/>
            <a:chExt cx="6827520" cy="3535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275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442" t="0" r="-16442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827520" cy="357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Hosts Service-B and Service-C (backend logic). Cross-node hops from Worker 1 measured here.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Three CNI Candidates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Architectural Philosophies Under Test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6487" y="1541783"/>
            <a:ext cx="5694683" cy="8346443"/>
            <a:chOff x="0" y="0"/>
            <a:chExt cx="7592911" cy="111285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55904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92822" cy="11128501"/>
            </a:xfrm>
            <a:custGeom>
              <a:avLst/>
              <a:gdLst/>
              <a:ahLst/>
              <a:cxnLst/>
              <a:rect r="r" b="b" t="t" l="l"/>
              <a:pathLst>
                <a:path h="11128501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1111611"/>
                  </a:lnTo>
                  <a:cubicBezTo>
                    <a:pt x="7592822" y="11121009"/>
                    <a:pt x="7585202" y="11128501"/>
                    <a:pt x="7575931" y="11128501"/>
                  </a:cubicBezTo>
                  <a:lnTo>
                    <a:pt x="16891" y="11128501"/>
                  </a:lnTo>
                  <a:cubicBezTo>
                    <a:pt x="7493" y="11128501"/>
                    <a:pt x="0" y="11120882"/>
                    <a:pt x="0" y="11111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11611"/>
                  </a:lnTo>
                  <a:lnTo>
                    <a:pt x="16891" y="11111611"/>
                  </a:lnTo>
                  <a:lnTo>
                    <a:pt x="16891" y="11094720"/>
                  </a:lnTo>
                  <a:lnTo>
                    <a:pt x="7575931" y="11094720"/>
                  </a:lnTo>
                  <a:lnTo>
                    <a:pt x="7575931" y="11111611"/>
                  </a:lnTo>
                  <a:lnTo>
                    <a:pt x="7559040" y="1111161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16487" y="1541783"/>
            <a:ext cx="5694683" cy="1579883"/>
            <a:chOff x="0" y="0"/>
            <a:chExt cx="7592911" cy="21065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5590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E05A5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928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89531"/>
                  </a:lnTo>
                  <a:cubicBezTo>
                    <a:pt x="7592822" y="2098929"/>
                    <a:pt x="7585202" y="2106422"/>
                    <a:pt x="75759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575931" y="2072640"/>
                  </a:lnTo>
                  <a:lnTo>
                    <a:pt x="7575931" y="2089531"/>
                  </a:lnTo>
                  <a:lnTo>
                    <a:pt x="7559040" y="2089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A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29184" y="1645920"/>
            <a:ext cx="5669280" cy="914400"/>
            <a:chOff x="0" y="0"/>
            <a:chExt cx="755904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59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75590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Flannel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29184" y="2414016"/>
            <a:ext cx="5669280" cy="512064"/>
            <a:chOff x="0" y="0"/>
            <a:chExt cx="755904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559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VXLAN Overlay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85216" y="3328416"/>
            <a:ext cx="5157216" cy="1426464"/>
            <a:chOff x="0" y="0"/>
            <a:chExt cx="6876288" cy="19019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Wraps inter-node traffic inside UDP/VXLAN tunnels, adding ~50 B of encapsulation per packet.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5216" y="4864608"/>
            <a:ext cx="5157216" cy="1426464"/>
            <a:chOff x="0" y="0"/>
            <a:chExt cx="6876288" cy="19019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 setup; widely adopted in smaller clusters with low performance demands.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85216" y="6400800"/>
            <a:ext cx="5157216" cy="1426464"/>
            <a:chOff x="0" y="0"/>
            <a:chExt cx="6876288" cy="19019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Overlay processing burdens the CPU and increases effective packet size — significant for small JSON payloads.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85216" y="7936992"/>
            <a:ext cx="5157216" cy="1426464"/>
            <a:chOff x="0" y="0"/>
            <a:chExt cx="6876288" cy="19019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Does not provide native network policy; relies on add-ons for security enforcement.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96663" y="1541783"/>
            <a:ext cx="5694683" cy="8346443"/>
            <a:chOff x="0" y="0"/>
            <a:chExt cx="7592911" cy="111285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55904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92822" cy="11128501"/>
            </a:xfrm>
            <a:custGeom>
              <a:avLst/>
              <a:gdLst/>
              <a:ahLst/>
              <a:cxnLst/>
              <a:rect r="r" b="b" t="t" l="l"/>
              <a:pathLst>
                <a:path h="11128501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1111611"/>
                  </a:lnTo>
                  <a:cubicBezTo>
                    <a:pt x="7592822" y="11121009"/>
                    <a:pt x="7585202" y="11128501"/>
                    <a:pt x="7575931" y="11128501"/>
                  </a:cubicBezTo>
                  <a:lnTo>
                    <a:pt x="16891" y="11128501"/>
                  </a:lnTo>
                  <a:cubicBezTo>
                    <a:pt x="7493" y="11128501"/>
                    <a:pt x="0" y="11120882"/>
                    <a:pt x="0" y="11111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11611"/>
                  </a:lnTo>
                  <a:lnTo>
                    <a:pt x="16891" y="11111611"/>
                  </a:lnTo>
                  <a:lnTo>
                    <a:pt x="16891" y="11094720"/>
                  </a:lnTo>
                  <a:lnTo>
                    <a:pt x="7575931" y="11094720"/>
                  </a:lnTo>
                  <a:lnTo>
                    <a:pt x="7575931" y="11111611"/>
                  </a:lnTo>
                  <a:lnTo>
                    <a:pt x="7559040" y="1111161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96663" y="1541783"/>
            <a:ext cx="5694683" cy="1579883"/>
            <a:chOff x="0" y="0"/>
            <a:chExt cx="7592911" cy="21065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5590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5C84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928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89531"/>
                  </a:lnTo>
                  <a:cubicBezTo>
                    <a:pt x="7592822" y="2098929"/>
                    <a:pt x="7585202" y="2106422"/>
                    <a:pt x="75759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575931" y="2072640"/>
                  </a:lnTo>
                  <a:lnTo>
                    <a:pt x="7575931" y="2089531"/>
                  </a:lnTo>
                  <a:lnTo>
                    <a:pt x="7559040" y="2089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C84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309360" y="1645920"/>
            <a:ext cx="5669280" cy="914400"/>
            <a:chOff x="0" y="0"/>
            <a:chExt cx="75590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59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75590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Calico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309360" y="2414016"/>
            <a:ext cx="5669280" cy="512064"/>
            <a:chOff x="0" y="0"/>
            <a:chExt cx="755904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559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BGP / L3 Routing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65392" y="3328416"/>
            <a:ext cx="5157216" cy="1426464"/>
            <a:chOff x="0" y="0"/>
            <a:chExt cx="6876288" cy="19019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Routes traffic using standard BGP at Layer 3 — no encapsulation overhead on the data path.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65392" y="4864608"/>
            <a:ext cx="5157216" cy="1426464"/>
            <a:chOff x="0" y="0"/>
            <a:chExt cx="6876288" cy="19019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Leverages the host kernel's native IP forwarding, avoiding tunnel setup/teardown costs.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65392" y="6400800"/>
            <a:ext cx="5157216" cy="1426464"/>
            <a:chOff x="0" y="0"/>
            <a:chExt cx="6876288" cy="19019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policy enforcement is handled via iptables or eBPF (configurable), adding rule-lookup latency.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65392" y="7936992"/>
            <a:ext cx="5157216" cy="1426464"/>
            <a:chOff x="0" y="0"/>
            <a:chExt cx="6876288" cy="19019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Widely deployed in enterprise environments due to strong policy support and operational maturity.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76839" y="1541783"/>
            <a:ext cx="5694683" cy="8346443"/>
            <a:chOff x="0" y="0"/>
            <a:chExt cx="7592911" cy="111285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55904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92822" cy="11128501"/>
            </a:xfrm>
            <a:custGeom>
              <a:avLst/>
              <a:gdLst/>
              <a:ahLst/>
              <a:cxnLst/>
              <a:rect r="r" b="b" t="t" l="l"/>
              <a:pathLst>
                <a:path h="11128501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1111611"/>
                  </a:lnTo>
                  <a:cubicBezTo>
                    <a:pt x="7592822" y="11121009"/>
                    <a:pt x="7585202" y="11128501"/>
                    <a:pt x="7575931" y="11128501"/>
                  </a:cubicBezTo>
                  <a:lnTo>
                    <a:pt x="16891" y="11128501"/>
                  </a:lnTo>
                  <a:cubicBezTo>
                    <a:pt x="7493" y="11128501"/>
                    <a:pt x="0" y="11120882"/>
                    <a:pt x="0" y="11111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11611"/>
                  </a:lnTo>
                  <a:lnTo>
                    <a:pt x="16891" y="11111611"/>
                  </a:lnTo>
                  <a:lnTo>
                    <a:pt x="16891" y="11094720"/>
                  </a:lnTo>
                  <a:lnTo>
                    <a:pt x="7575931" y="11094720"/>
                  </a:lnTo>
                  <a:lnTo>
                    <a:pt x="7575931" y="11111611"/>
                  </a:lnTo>
                  <a:lnTo>
                    <a:pt x="7559040" y="1111161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276839" y="1541783"/>
            <a:ext cx="5694683" cy="1579883"/>
            <a:chOff x="0" y="0"/>
            <a:chExt cx="7592911" cy="21065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5590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5EC97D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928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089531"/>
                  </a:lnTo>
                  <a:cubicBezTo>
                    <a:pt x="7592822" y="2098929"/>
                    <a:pt x="7585202" y="2106422"/>
                    <a:pt x="75759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575931" y="2072640"/>
                  </a:lnTo>
                  <a:lnTo>
                    <a:pt x="7575931" y="2089531"/>
                  </a:lnTo>
                  <a:lnTo>
                    <a:pt x="7559040" y="2089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EC97D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289536" y="1645920"/>
            <a:ext cx="5669280" cy="914400"/>
            <a:chOff x="0" y="0"/>
            <a:chExt cx="755904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5590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75590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Cilium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289536" y="2414016"/>
            <a:ext cx="5669280" cy="512064"/>
            <a:chOff x="0" y="0"/>
            <a:chExt cx="755904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7559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eBPF Datapath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45568" y="3328416"/>
            <a:ext cx="5157216" cy="1426464"/>
            <a:chOff x="0" y="0"/>
            <a:chExt cx="6876288" cy="19019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Attaches eBPF programs directly to kernel network hooks, bypassing large portions of the network stack.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545568" y="4864608"/>
            <a:ext cx="5157216" cy="1426464"/>
            <a:chOff x="0" y="0"/>
            <a:chExt cx="6876288" cy="19019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Enables very low-latency packet forwarding with sub-microsecond per-hop costs when fully configured.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545568" y="6400800"/>
            <a:ext cx="5157216" cy="1426464"/>
            <a:chOff x="0" y="0"/>
            <a:chExt cx="6876288" cy="19019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 baseline memory footprint due to eBPF map allocations and DaemonSet agents.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545568" y="7936992"/>
            <a:ext cx="5157216" cy="1426464"/>
            <a:chOff x="0" y="0"/>
            <a:chExt cx="6876288" cy="19019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762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45" r="0" b="-2044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876288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84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 </a:t>
              </a:r>
              <a:r>
                <a:rPr lang="en-US" sz="184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is highly sensitive to kernel version, eBPF map sizes, and operator configuration mode.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Execution Methodology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Automated, Reproducible Benchmark Pipeline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1541783"/>
            <a:ext cx="8620763" cy="2585723"/>
            <a:chOff x="0" y="0"/>
            <a:chExt cx="11494351" cy="3447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460481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942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430651"/>
                  </a:lnTo>
                  <a:cubicBezTo>
                    <a:pt x="11494262" y="3440049"/>
                    <a:pt x="11486642" y="3447542"/>
                    <a:pt x="11477372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1477372" y="3413760"/>
                  </a:lnTo>
                  <a:lnTo>
                    <a:pt x="11477372" y="3430651"/>
                  </a:lnTo>
                  <a:lnTo>
                    <a:pt x="11460480" y="34306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53063" y="1541783"/>
            <a:ext cx="135131" cy="2585723"/>
            <a:chOff x="0" y="0"/>
            <a:chExt cx="180175" cy="34476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05A5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3447542"/>
            </a:xfrm>
            <a:custGeom>
              <a:avLst/>
              <a:gdLst/>
              <a:ahLst/>
              <a:cxnLst/>
              <a:rect r="r" b="b" t="t" l="l"/>
              <a:pathLst>
                <a:path h="34475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430651"/>
                  </a:lnTo>
                  <a:cubicBezTo>
                    <a:pt x="180086" y="3440049"/>
                    <a:pt x="172466" y="3447542"/>
                    <a:pt x="163195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63195" y="3413760"/>
                  </a:lnTo>
                  <a:lnTo>
                    <a:pt x="163195" y="3430651"/>
                  </a:lnTo>
                  <a:lnTo>
                    <a:pt x="146304" y="34306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A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85216" y="1700784"/>
            <a:ext cx="1060704" cy="914400"/>
            <a:chOff x="0" y="0"/>
            <a:chExt cx="1414272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42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606" t="0" r="-6060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41427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55648" y="1737360"/>
            <a:ext cx="6949440" cy="640080"/>
            <a:chOff x="0" y="0"/>
            <a:chExt cx="926592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Cluster Reset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55648" y="2395728"/>
            <a:ext cx="6949440" cy="1572768"/>
            <a:chOff x="0" y="0"/>
            <a:chExt cx="9265920" cy="2097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0" cy="2097024"/>
            </a:xfrm>
            <a:custGeom>
              <a:avLst/>
              <a:gdLst/>
              <a:ahLst/>
              <a:cxnLst/>
              <a:rect r="r" b="b" t="t" l="l"/>
              <a:pathLst>
                <a:path h="2097024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6" r="0" b="-360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265920" cy="2135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tear down existing state — kubelet, etcd, CNI configs — to guarantee a clean environment with no residual routing state from prior runs.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14183" y="1541783"/>
            <a:ext cx="8620763" cy="2585723"/>
            <a:chOff x="0" y="0"/>
            <a:chExt cx="11494351" cy="34476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460481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942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430651"/>
                  </a:lnTo>
                  <a:cubicBezTo>
                    <a:pt x="11494262" y="3440049"/>
                    <a:pt x="11486642" y="3447542"/>
                    <a:pt x="11477372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1477372" y="3413760"/>
                  </a:lnTo>
                  <a:lnTo>
                    <a:pt x="11477372" y="3430651"/>
                  </a:lnTo>
                  <a:lnTo>
                    <a:pt x="11460480" y="34306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14183" y="1541783"/>
            <a:ext cx="135131" cy="2585723"/>
            <a:chOff x="0" y="0"/>
            <a:chExt cx="180175" cy="34476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46304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086" cy="3447542"/>
            </a:xfrm>
            <a:custGeom>
              <a:avLst/>
              <a:gdLst/>
              <a:ahLst/>
              <a:cxnLst/>
              <a:rect r="r" b="b" t="t" l="l"/>
              <a:pathLst>
                <a:path h="34475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430651"/>
                  </a:lnTo>
                  <a:cubicBezTo>
                    <a:pt x="180086" y="3440049"/>
                    <a:pt x="172466" y="3447542"/>
                    <a:pt x="163195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63195" y="3413760"/>
                  </a:lnTo>
                  <a:lnTo>
                    <a:pt x="163195" y="3430651"/>
                  </a:lnTo>
                  <a:lnTo>
                    <a:pt x="146304" y="34306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46336" y="1700784"/>
            <a:ext cx="1060704" cy="914400"/>
            <a:chOff x="0" y="0"/>
            <a:chExt cx="1414272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142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606" t="0" r="-6060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141427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716768" y="1737360"/>
            <a:ext cx="6949440" cy="640080"/>
            <a:chOff x="0" y="0"/>
            <a:chExt cx="926592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Initialise Nodes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16768" y="2395728"/>
            <a:ext cx="6949440" cy="1572768"/>
            <a:chOff x="0" y="0"/>
            <a:chExt cx="9265920" cy="20970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65920" cy="2097024"/>
            </a:xfrm>
            <a:custGeom>
              <a:avLst/>
              <a:gdLst/>
              <a:ahLst/>
              <a:cxnLst/>
              <a:rect r="r" b="b" t="t" l="l"/>
              <a:pathLst>
                <a:path h="2097024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6" r="0" b="-3609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265920" cy="2135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Spin up the Master node and join both Worker nodes using kubeadm. Confirm NotReady status before CNI install.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53063" y="4358135"/>
            <a:ext cx="8620763" cy="2585723"/>
            <a:chOff x="0" y="0"/>
            <a:chExt cx="11494351" cy="34476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460481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942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430651"/>
                  </a:lnTo>
                  <a:cubicBezTo>
                    <a:pt x="11494262" y="3440049"/>
                    <a:pt x="11486642" y="3447542"/>
                    <a:pt x="11477372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1477372" y="3413760"/>
                  </a:lnTo>
                  <a:lnTo>
                    <a:pt x="11477372" y="3430651"/>
                  </a:lnTo>
                  <a:lnTo>
                    <a:pt x="11460480" y="34306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53063" y="4358135"/>
            <a:ext cx="135131" cy="2585723"/>
            <a:chOff x="0" y="0"/>
            <a:chExt cx="180175" cy="34476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3447542"/>
            </a:xfrm>
            <a:custGeom>
              <a:avLst/>
              <a:gdLst/>
              <a:ahLst/>
              <a:cxnLst/>
              <a:rect r="r" b="b" t="t" l="l"/>
              <a:pathLst>
                <a:path h="34475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430651"/>
                  </a:lnTo>
                  <a:cubicBezTo>
                    <a:pt x="180086" y="3440049"/>
                    <a:pt x="172466" y="3447542"/>
                    <a:pt x="163195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63195" y="3413760"/>
                  </a:lnTo>
                  <a:lnTo>
                    <a:pt x="163195" y="3430651"/>
                  </a:lnTo>
                  <a:lnTo>
                    <a:pt x="146304" y="34306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85216" y="4517136"/>
            <a:ext cx="1060704" cy="914400"/>
            <a:chOff x="0" y="0"/>
            <a:chExt cx="1414272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142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606" t="0" r="-60606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41427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55648" y="4553712"/>
            <a:ext cx="6949440" cy="640080"/>
            <a:chOff x="0" y="0"/>
            <a:chExt cx="926592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 CNI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55648" y="5212080"/>
            <a:ext cx="6949440" cy="1572768"/>
            <a:chOff x="0" y="0"/>
            <a:chExt cx="9265920" cy="20970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65920" cy="2097024"/>
            </a:xfrm>
            <a:custGeom>
              <a:avLst/>
              <a:gdLst/>
              <a:ahLst/>
              <a:cxnLst/>
              <a:rect r="r" b="b" t="t" l="l"/>
              <a:pathLst>
                <a:path h="2097024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6" r="0" b="-3609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265920" cy="2135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 the target CNI plugin (Flannel / Calico / Cilium) using its official manifest. Wait for all DaemonSet pods to reach Running.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14183" y="4358135"/>
            <a:ext cx="8620763" cy="2585723"/>
            <a:chOff x="0" y="0"/>
            <a:chExt cx="11494351" cy="34476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1460481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4942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430651"/>
                  </a:lnTo>
                  <a:cubicBezTo>
                    <a:pt x="11494262" y="3440049"/>
                    <a:pt x="11486642" y="3447542"/>
                    <a:pt x="11477372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1477372" y="3413760"/>
                  </a:lnTo>
                  <a:lnTo>
                    <a:pt x="11477372" y="3430651"/>
                  </a:lnTo>
                  <a:lnTo>
                    <a:pt x="11460480" y="34306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314183" y="4358135"/>
            <a:ext cx="135131" cy="2585723"/>
            <a:chOff x="0" y="0"/>
            <a:chExt cx="180175" cy="34476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46304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0086" cy="3447542"/>
            </a:xfrm>
            <a:custGeom>
              <a:avLst/>
              <a:gdLst/>
              <a:ahLst/>
              <a:cxnLst/>
              <a:rect r="r" b="b" t="t" l="l"/>
              <a:pathLst>
                <a:path h="34475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430651"/>
                  </a:lnTo>
                  <a:cubicBezTo>
                    <a:pt x="180086" y="3440049"/>
                    <a:pt x="172466" y="3447542"/>
                    <a:pt x="163195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63195" y="3413760"/>
                  </a:lnTo>
                  <a:lnTo>
                    <a:pt x="163195" y="3430651"/>
                  </a:lnTo>
                  <a:lnTo>
                    <a:pt x="146304" y="34306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46336" y="4517136"/>
            <a:ext cx="1060704" cy="914400"/>
            <a:chOff x="0" y="0"/>
            <a:chExt cx="1414272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142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606" t="0" r="-60606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141427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716768" y="4553712"/>
            <a:ext cx="6949440" cy="640080"/>
            <a:chOff x="0" y="0"/>
            <a:chExt cx="926592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 Workloads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716768" y="5212080"/>
            <a:ext cx="6949440" cy="1572768"/>
            <a:chOff x="0" y="0"/>
            <a:chExt cx="9265920" cy="20970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65920" cy="2097024"/>
            </a:xfrm>
            <a:custGeom>
              <a:avLst/>
              <a:gdLst/>
              <a:ahLst/>
              <a:cxnLst/>
              <a:rect r="r" b="b" t="t" l="l"/>
              <a:pathLst>
                <a:path h="2097024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6" r="0" b="-3609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265920" cy="2135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 out the A → B → C service chain. Enforce anti-affinity rules to place Service-A on Worker 1 and Services B/C on Worker 2.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53063" y="7174487"/>
            <a:ext cx="8620763" cy="2585723"/>
            <a:chOff x="0" y="0"/>
            <a:chExt cx="11494351" cy="34476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1460481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4942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430651"/>
                  </a:lnTo>
                  <a:cubicBezTo>
                    <a:pt x="11494262" y="3440049"/>
                    <a:pt x="11486642" y="3447542"/>
                    <a:pt x="11477372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1477372" y="3413760"/>
                  </a:lnTo>
                  <a:lnTo>
                    <a:pt x="11477372" y="3430651"/>
                  </a:lnTo>
                  <a:lnTo>
                    <a:pt x="11460480" y="34306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53063" y="7174487"/>
            <a:ext cx="135131" cy="2585723"/>
            <a:chOff x="0" y="0"/>
            <a:chExt cx="180175" cy="344763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5C84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3447542"/>
            </a:xfrm>
            <a:custGeom>
              <a:avLst/>
              <a:gdLst/>
              <a:ahLst/>
              <a:cxnLst/>
              <a:rect r="r" b="b" t="t" l="l"/>
              <a:pathLst>
                <a:path h="34475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430651"/>
                  </a:lnTo>
                  <a:cubicBezTo>
                    <a:pt x="180086" y="3440049"/>
                    <a:pt x="172466" y="3447542"/>
                    <a:pt x="163195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63195" y="3413760"/>
                  </a:lnTo>
                  <a:lnTo>
                    <a:pt x="163195" y="3430651"/>
                  </a:lnTo>
                  <a:lnTo>
                    <a:pt x="146304" y="34306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C84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85216" y="7333488"/>
            <a:ext cx="1060704" cy="914400"/>
            <a:chOff x="0" y="0"/>
            <a:chExt cx="1414272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142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606" t="0" r="-60606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141427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55648" y="7370064"/>
            <a:ext cx="6949440" cy="640080"/>
            <a:chOff x="0" y="0"/>
            <a:chExt cx="926592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Warm-Up &amp; Verify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55648" y="8028432"/>
            <a:ext cx="6949440" cy="1572768"/>
            <a:chOff x="0" y="0"/>
            <a:chExt cx="9265920" cy="20970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265920" cy="2097024"/>
            </a:xfrm>
            <a:custGeom>
              <a:avLst/>
              <a:gdLst/>
              <a:ahLst/>
              <a:cxnLst/>
              <a:rect r="r" b="b" t="t" l="l"/>
              <a:pathLst>
                <a:path h="2097024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6" r="0" b="-3609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265920" cy="2135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Execute a 20-request pre-flight check to populate ARP caches and OS routing tables. Assert all pods are healthy before recording.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14183" y="7174487"/>
            <a:ext cx="8620763" cy="2585723"/>
            <a:chOff x="0" y="0"/>
            <a:chExt cx="11494351" cy="344763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1460481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4942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430651"/>
                  </a:lnTo>
                  <a:cubicBezTo>
                    <a:pt x="11494262" y="3440049"/>
                    <a:pt x="11486642" y="3447542"/>
                    <a:pt x="11477372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1477372" y="3413760"/>
                  </a:lnTo>
                  <a:lnTo>
                    <a:pt x="11477372" y="3430651"/>
                  </a:lnTo>
                  <a:lnTo>
                    <a:pt x="11460480" y="343065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314183" y="7174487"/>
            <a:ext cx="135131" cy="2585723"/>
            <a:chOff x="0" y="0"/>
            <a:chExt cx="180175" cy="34476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46304" cy="3413760"/>
            </a:xfrm>
            <a:custGeom>
              <a:avLst/>
              <a:gdLst/>
              <a:ahLst/>
              <a:cxnLst/>
              <a:rect r="r" b="b" t="t" l="l"/>
              <a:pathLst>
                <a:path h="3413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5EC97D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0086" cy="3447542"/>
            </a:xfrm>
            <a:custGeom>
              <a:avLst/>
              <a:gdLst/>
              <a:ahLst/>
              <a:cxnLst/>
              <a:rect r="r" b="b" t="t" l="l"/>
              <a:pathLst>
                <a:path h="34475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430651"/>
                  </a:lnTo>
                  <a:cubicBezTo>
                    <a:pt x="180086" y="3440049"/>
                    <a:pt x="172466" y="3447542"/>
                    <a:pt x="163195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63195" y="3413760"/>
                  </a:lnTo>
                  <a:lnTo>
                    <a:pt x="163195" y="3430651"/>
                  </a:lnTo>
                  <a:lnTo>
                    <a:pt x="146304" y="34306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EC97D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546336" y="7333488"/>
            <a:ext cx="1060704" cy="914400"/>
            <a:chOff x="0" y="0"/>
            <a:chExt cx="1414272" cy="12192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142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606" t="0" r="-60606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141427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716768" y="7370064"/>
            <a:ext cx="6949440" cy="640080"/>
            <a:chOff x="0" y="0"/>
            <a:chExt cx="926592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716768" y="8028432"/>
            <a:ext cx="6949440" cy="1572768"/>
            <a:chOff x="0" y="0"/>
            <a:chExt cx="9265920" cy="209702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265920" cy="2097024"/>
            </a:xfrm>
            <a:custGeom>
              <a:avLst/>
              <a:gdLst/>
              <a:ahLst/>
              <a:cxnLst/>
              <a:rect r="r" b="b" t="t" l="l"/>
              <a:pathLst>
                <a:path h="2097024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097024"/>
                  </a:lnTo>
                  <a:lnTo>
                    <a:pt x="0" y="2097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6" r="0" b="-3609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9265920" cy="2135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500 sequential HTTP requests via the `hey` tool. Capture JSON latency logs, p50/p95/p99 percentiles, and CPU/memory snapshots.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Latency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Service-A → Service-B → Service-C  |  500 Requests  |  Identical Conditions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1523495"/>
            <a:ext cx="5658107" cy="1634747"/>
            <a:chOff x="0" y="0"/>
            <a:chExt cx="7544143" cy="217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5760" y="1609344"/>
            <a:ext cx="5632704" cy="950976"/>
            <a:chOff x="0" y="0"/>
            <a:chExt cx="7510272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751027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4.82 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5760" y="2487168"/>
            <a:ext cx="5632704" cy="512064"/>
            <a:chOff x="0" y="0"/>
            <a:chExt cx="751027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Flannel Avg Latency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96663" y="1523495"/>
            <a:ext cx="5658107" cy="1634747"/>
            <a:chOff x="0" y="0"/>
            <a:chExt cx="7544143" cy="21796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09360" y="1609344"/>
            <a:ext cx="5632704" cy="950976"/>
            <a:chOff x="0" y="0"/>
            <a:chExt cx="7510272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751027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3.10 ms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9360" y="2487168"/>
            <a:ext cx="5632704" cy="512064"/>
            <a:chOff x="0" y="0"/>
            <a:chExt cx="7510272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Calico Avg Latency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40263" y="1523495"/>
            <a:ext cx="5658107" cy="1634747"/>
            <a:chOff x="0" y="0"/>
            <a:chExt cx="7544143" cy="21796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252960" y="1609344"/>
            <a:ext cx="5632704" cy="950976"/>
            <a:chOff x="0" y="0"/>
            <a:chExt cx="7510272" cy="12679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751027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1.92 ms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52960" y="2487168"/>
            <a:ext cx="5632704" cy="512064"/>
            <a:chOff x="0" y="0"/>
            <a:chExt cx="751027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Cilium Avg Latency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74320" y="3383280"/>
            <a:ext cx="17739360" cy="5368942"/>
            <a:chOff x="0" y="0"/>
            <a:chExt cx="23652480" cy="7158590"/>
          </a:xfrm>
        </p:grpSpPr>
        <p:sp>
          <p:nvSpPr>
            <p:cNvPr name="Freeform 42" id="42" descr="/mnt/user-data/uploads/7_cni_latency_analysis.png"/>
            <p:cNvSpPr/>
            <p:nvPr/>
          </p:nvSpPr>
          <p:spPr>
            <a:xfrm flipH="false" flipV="false" rot="0">
              <a:off x="0" y="0"/>
              <a:ext cx="23652480" cy="7158589"/>
            </a:xfrm>
            <a:custGeom>
              <a:avLst/>
              <a:gdLst/>
              <a:ahLst/>
              <a:cxnLst/>
              <a:rect r="r" b="b" t="t" l="l"/>
              <a:pathLst>
                <a:path h="715858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158589"/>
                  </a:lnTo>
                  <a:lnTo>
                    <a:pt x="0" y="7158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64" r="0" b="-96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29184" y="9258300"/>
            <a:ext cx="17556480" cy="548640"/>
            <a:chOff x="0" y="0"/>
            <a:chExt cx="234086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40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Cilium leads across all latency percentiles. Flannel's VXLAN encapsulation causes the widest p99 spread (16.5 ms max), confirming compounding overhead under load.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Throughput &amp; Packet Overhead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Worker-1:30080 → Worker-2  |  500 Requests  |  Effective Goodput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1523495"/>
            <a:ext cx="5658107" cy="1634747"/>
            <a:chOff x="0" y="0"/>
            <a:chExt cx="7544143" cy="217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5760" y="1609344"/>
            <a:ext cx="5632704" cy="950976"/>
            <a:chOff x="0" y="0"/>
            <a:chExt cx="7510272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510272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185 req/s peak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5760" y="2487168"/>
            <a:ext cx="5632704" cy="512064"/>
            <a:chOff x="0" y="0"/>
            <a:chExt cx="751027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Flannel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96663" y="1523495"/>
            <a:ext cx="5658107" cy="1634747"/>
            <a:chOff x="0" y="0"/>
            <a:chExt cx="7544143" cy="21796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09360" y="1609344"/>
            <a:ext cx="5632704" cy="950976"/>
            <a:chOff x="0" y="0"/>
            <a:chExt cx="7510272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7510272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298 req/s peak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9360" y="2487168"/>
            <a:ext cx="5632704" cy="512064"/>
            <a:chOff x="0" y="0"/>
            <a:chExt cx="7510272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Calico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40263" y="1523495"/>
            <a:ext cx="5658107" cy="1634747"/>
            <a:chOff x="0" y="0"/>
            <a:chExt cx="7544143" cy="21796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252960" y="1609344"/>
            <a:ext cx="5632704" cy="950976"/>
            <a:chOff x="0" y="0"/>
            <a:chExt cx="7510272" cy="12679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7510272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431 req/s peak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52960" y="2487168"/>
            <a:ext cx="5632704" cy="512064"/>
            <a:chOff x="0" y="0"/>
            <a:chExt cx="751027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Cilium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74325" y="3348742"/>
            <a:ext cx="17739360" cy="5660175"/>
            <a:chOff x="0" y="0"/>
            <a:chExt cx="23652480" cy="7546900"/>
          </a:xfrm>
        </p:grpSpPr>
        <p:sp>
          <p:nvSpPr>
            <p:cNvPr name="Freeform 42" id="42" descr="/mnt/user-data/uploads/7_cni_throughput_packet_analysis.png"/>
            <p:cNvSpPr/>
            <p:nvPr/>
          </p:nvSpPr>
          <p:spPr>
            <a:xfrm flipH="false" flipV="false" rot="0">
              <a:off x="0" y="0"/>
              <a:ext cx="23652480" cy="7546900"/>
            </a:xfrm>
            <a:custGeom>
              <a:avLst/>
              <a:gdLst/>
              <a:ahLst/>
              <a:cxnLst/>
              <a:rect r="r" b="b" t="t" l="l"/>
              <a:pathLst>
                <a:path h="754690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546900"/>
                  </a:lnTo>
                  <a:lnTo>
                    <a:pt x="0" y="754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17" r="0" b="-1841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74325" y="9258300"/>
            <a:ext cx="17556480" cy="548640"/>
            <a:chOff x="0" y="0"/>
            <a:chExt cx="234086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40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Flannel's 50B VXLAN header adds ~3.4% overhead per packet. Despite identical payload sizes, VXLAN encapsulation drives packet loss to 0.18% — 9× higher than Cilium's 0.02%.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274325" y="3398868"/>
            <a:ext cx="17739360" cy="5610050"/>
          </a:xfrm>
          <a:custGeom>
            <a:avLst/>
            <a:gdLst/>
            <a:ahLst/>
            <a:cxnLst/>
            <a:rect r="r" b="b" t="t" l="l"/>
            <a:pathLst>
              <a:path h="5610050" w="17739360">
                <a:moveTo>
                  <a:pt x="0" y="0"/>
                </a:moveTo>
                <a:lnTo>
                  <a:pt x="17739360" y="0"/>
                </a:lnTo>
                <a:lnTo>
                  <a:pt x="17739360" y="5610050"/>
                </a:lnTo>
                <a:lnTo>
                  <a:pt x="0" y="5610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4" t="0" r="-1214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CPU &amp; Memory Overhead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kubectl top — Live Resource Consumption During Benchmark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1523495"/>
            <a:ext cx="5658107" cy="1634747"/>
            <a:chOff x="0" y="0"/>
            <a:chExt cx="7544143" cy="217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5760" y="1609344"/>
            <a:ext cx="5632704" cy="950976"/>
            <a:chOff x="0" y="0"/>
            <a:chExt cx="7510272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751027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690 mc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5760" y="2487168"/>
            <a:ext cx="5632704" cy="512064"/>
            <a:chOff x="0" y="0"/>
            <a:chExt cx="751027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Flannel Total CPU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96663" y="1523495"/>
            <a:ext cx="5658107" cy="1634747"/>
            <a:chOff x="0" y="0"/>
            <a:chExt cx="7544143" cy="21796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09360" y="1609344"/>
            <a:ext cx="5632704" cy="950976"/>
            <a:chOff x="0" y="0"/>
            <a:chExt cx="7510272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751027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628 mc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9360" y="2487168"/>
            <a:ext cx="5632704" cy="512064"/>
            <a:chOff x="0" y="0"/>
            <a:chExt cx="7510272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Calico Total CPU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40263" y="1523495"/>
            <a:ext cx="5658107" cy="1634747"/>
            <a:chOff x="0" y="0"/>
            <a:chExt cx="7544143" cy="21796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510272" cy="2145792"/>
            </a:xfrm>
            <a:custGeom>
              <a:avLst/>
              <a:gdLst/>
              <a:ahLst/>
              <a:cxnLst/>
              <a:rect r="r" b="b" t="t" l="l"/>
              <a:pathLst>
                <a:path h="21457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44054" cy="2179574"/>
            </a:xfrm>
            <a:custGeom>
              <a:avLst/>
              <a:gdLst/>
              <a:ahLst/>
              <a:cxnLst/>
              <a:rect r="r" b="b" t="t" l="l"/>
              <a:pathLst>
                <a:path h="2179574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162683"/>
                  </a:lnTo>
                  <a:cubicBezTo>
                    <a:pt x="7544054" y="2172081"/>
                    <a:pt x="7536434" y="2179574"/>
                    <a:pt x="7527163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7527163" y="2145792"/>
                  </a:lnTo>
                  <a:lnTo>
                    <a:pt x="7527163" y="2162683"/>
                  </a:lnTo>
                  <a:lnTo>
                    <a:pt x="7510272" y="21626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252960" y="1609344"/>
            <a:ext cx="5632704" cy="950976"/>
            <a:chOff x="0" y="0"/>
            <a:chExt cx="7510272" cy="12679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10272" cy="1267968"/>
            </a:xfrm>
            <a:custGeom>
              <a:avLst/>
              <a:gdLst/>
              <a:ahLst/>
              <a:cxnLst/>
              <a:rect r="r" b="b" t="t" l="l"/>
              <a:pathLst>
                <a:path h="126796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11" r="0" b="-654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7510272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454 mc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52960" y="2487168"/>
            <a:ext cx="5632704" cy="512064"/>
            <a:chOff x="0" y="0"/>
            <a:chExt cx="751027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10272" cy="682752"/>
            </a:xfrm>
            <a:custGeom>
              <a:avLst/>
              <a:gdLst/>
              <a:ahLst/>
              <a:cxnLst/>
              <a:rect r="r" b="b" t="t" l="l"/>
              <a:pathLst>
                <a:path h="68275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51027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Cilium Total CPU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74320" y="3383280"/>
            <a:ext cx="17739360" cy="5428063"/>
            <a:chOff x="0" y="0"/>
            <a:chExt cx="23652480" cy="7237417"/>
          </a:xfrm>
        </p:grpSpPr>
        <p:sp>
          <p:nvSpPr>
            <p:cNvPr name="Freeform 42" id="42" descr="/mnt/user-data/uploads/7_cni_cpu_memory_overhead.png"/>
            <p:cNvSpPr/>
            <p:nvPr/>
          </p:nvSpPr>
          <p:spPr>
            <a:xfrm flipH="false" flipV="false" rot="0">
              <a:off x="0" y="0"/>
              <a:ext cx="23652480" cy="7237417"/>
            </a:xfrm>
            <a:custGeom>
              <a:avLst/>
              <a:gdLst/>
              <a:ahLst/>
              <a:cxnLst/>
              <a:rect r="r" b="b" t="t" l="l"/>
              <a:pathLst>
                <a:path h="7237417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7237417"/>
                  </a:lnTo>
                  <a:lnTo>
                    <a:pt x="0" y="7237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50" r="0" b="-85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74320" y="9192343"/>
            <a:ext cx="17556480" cy="548640"/>
            <a:chOff x="0" y="0"/>
            <a:chExt cx="234086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40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Cilium consumes 34% less cluster CPU than Flannel, making it the most compute-efficient option despite its higher per-agent memory footprint (135 MiB vs Flannel's 42 MiB).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Consolidated Results Summary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500-Request Benchmark — 3-Node Multi-Hop Chain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365760" y="1609344"/>
          <a:ext cx="17500600" cy="3962400"/>
        </p:xfrm>
        <a:graphic>
          <a:graphicData uri="http://schemas.openxmlformats.org/drawingml/2006/table">
            <a:tbl>
              <a:tblPr/>
              <a:tblGrid>
                <a:gridCol w="2722096"/>
                <a:gridCol w="2009401"/>
                <a:gridCol w="2009401"/>
                <a:gridCol w="2009401"/>
                <a:gridCol w="2009401"/>
                <a:gridCol w="2365749"/>
                <a:gridCol w="2009401"/>
                <a:gridCol w="2365749"/>
              </a:tblGrid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CNI Plugin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p50 Latency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p95 Latency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p99 Latency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Latency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Throughput (RPS)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Packet Loss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1F5F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 CPU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E05A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Flannel (VXLAN)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05A5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4.7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05A5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7.9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05A5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11.2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05A5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4.82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05A5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185 req/s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05A5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0.18%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05A5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690 mc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0D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C84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Calico (BGP)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C84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C84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4.7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C84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6.8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C84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3.10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C84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298 req/s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C84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C84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628 mc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00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5EC97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Cilium (eBPF)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5EC97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1.9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5EC97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3.0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5EC97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4.1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5EC97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1.92 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5EC97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431 req/s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5EC97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5EC97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454 mc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353063" y="6022343"/>
            <a:ext cx="5694683" cy="3865883"/>
            <a:chOff x="0" y="0"/>
            <a:chExt cx="7592911" cy="51545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53063" y="6022343"/>
            <a:ext cx="5694683" cy="153419"/>
            <a:chOff x="0" y="0"/>
            <a:chExt cx="7592911" cy="204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0080" y="6217920"/>
            <a:ext cx="5120640" cy="640080"/>
            <a:chOff x="0" y="0"/>
            <a:chExt cx="682752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Fairness Caveat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0080" y="6949440"/>
            <a:ext cx="5120640" cy="2743200"/>
            <a:chOff x="0" y="0"/>
            <a:chExt cx="6827520" cy="365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8275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one dataset run, Calico targeted a different NodePort IP (192.168.192.170) vs Flannel and Cilium (192.168.192.166). Latency results are directionally valid, but a strict architectural ranking demands perfectly identical target paths across all runs.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33239" y="6022343"/>
            <a:ext cx="5694683" cy="3865883"/>
            <a:chOff x="0" y="0"/>
            <a:chExt cx="7592911" cy="5154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333239" y="6022343"/>
            <a:ext cx="5694683" cy="153419"/>
            <a:chOff x="0" y="0"/>
            <a:chExt cx="7592911" cy="2045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620256" y="6217920"/>
            <a:ext cx="5120640" cy="640080"/>
            <a:chOff x="0" y="0"/>
            <a:chExt cx="682752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Cross-Node Impact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20256" y="6949440"/>
            <a:ext cx="5120640" cy="2743200"/>
            <a:chOff x="0" y="0"/>
            <a:chExt cx="6827520" cy="3657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8275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Inter-node traffic amplifies all architectural overheads relative to Part A's single-node baseline. Flannel's VXLAN tunnelling is the most impacted — adding 50 B encapsulation to every small JSON packet.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13415" y="6022343"/>
            <a:ext cx="5694683" cy="3865883"/>
            <a:chOff x="0" y="0"/>
            <a:chExt cx="7592911" cy="51545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13415" y="6022343"/>
            <a:ext cx="5694683" cy="153419"/>
            <a:chOff x="0" y="0"/>
            <a:chExt cx="7592911" cy="2045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7559040" cy="170688"/>
            </a:xfrm>
            <a:custGeom>
              <a:avLst/>
              <a:gdLst/>
              <a:ahLst/>
              <a:cxnLst/>
              <a:rect r="r" b="b" t="t" l="l"/>
              <a:pathLst>
                <a:path h="17068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0B981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592822" cy="204472"/>
            </a:xfrm>
            <a:custGeom>
              <a:avLst/>
              <a:gdLst/>
              <a:ahLst/>
              <a:cxnLst/>
              <a:rect r="r" b="b" t="t" l="l"/>
              <a:pathLst>
                <a:path h="20447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87579"/>
                  </a:lnTo>
                  <a:cubicBezTo>
                    <a:pt x="7592822" y="196977"/>
                    <a:pt x="7585202" y="204470"/>
                    <a:pt x="7575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575931" y="170688"/>
                  </a:lnTo>
                  <a:lnTo>
                    <a:pt x="7575931" y="187579"/>
                  </a:lnTo>
                  <a:lnTo>
                    <a:pt x="7559040" y="18757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600432" y="6217920"/>
            <a:ext cx="5120640" cy="640080"/>
            <a:chOff x="0" y="0"/>
            <a:chExt cx="682752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Sensitivity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600432" y="6949440"/>
            <a:ext cx="5120640" cy="2743200"/>
            <a:chOff x="0" y="0"/>
            <a:chExt cx="6827520" cy="3657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7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8275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Multi-hop network benchmarks are sensitive to OS routing cache state, CNI DaemonSet warmup, and pod placement. Automated teardown between runs mitigates, but does not eliminate, state persistence.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35131" cy="1342139"/>
            <a:chOff x="0" y="0"/>
            <a:chExt cx="180175" cy="1789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46304" cy="1755648"/>
            </a:xfrm>
            <a:custGeom>
              <a:avLst/>
              <a:gdLst/>
              <a:ahLst/>
              <a:cxnLst/>
              <a:rect r="r" b="b" t="t" l="l"/>
              <a:pathLst>
                <a:path h="175564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086" cy="1789430"/>
            </a:xfrm>
            <a:custGeom>
              <a:avLst/>
              <a:gdLst/>
              <a:ahLst/>
              <a:cxnLst/>
              <a:rect r="r" b="b" t="t" l="l"/>
              <a:pathLst>
                <a:path h="178943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772539"/>
                  </a:lnTo>
                  <a:cubicBezTo>
                    <a:pt x="180086" y="1781937"/>
                    <a:pt x="172466" y="1789430"/>
                    <a:pt x="163195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63195" y="1755648"/>
                  </a:lnTo>
                  <a:lnTo>
                    <a:pt x="163195" y="1772539"/>
                  </a:lnTo>
                  <a:lnTo>
                    <a:pt x="146304" y="17725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73152"/>
            <a:ext cx="17556480" cy="768096"/>
            <a:chOff x="0" y="0"/>
            <a:chExt cx="2340864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4086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841248"/>
            <a:ext cx="17556480" cy="402336"/>
            <a:chOff x="0" y="0"/>
            <a:chExt cx="2340864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Summary of Findings — Part B Multi-Node Benchmark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1596647"/>
            <a:ext cx="8620763" cy="3865883"/>
            <a:chOff x="0" y="0"/>
            <a:chExt cx="11494351" cy="5154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460481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9426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137531"/>
                  </a:lnTo>
                  <a:cubicBezTo>
                    <a:pt x="11494262" y="5146929"/>
                    <a:pt x="11486642" y="5154422"/>
                    <a:pt x="11477372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477372" y="5120640"/>
                  </a:lnTo>
                  <a:lnTo>
                    <a:pt x="11477372" y="5137531"/>
                  </a:lnTo>
                  <a:lnTo>
                    <a:pt x="11460480" y="51375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53063" y="1596647"/>
            <a:ext cx="8620763" cy="153419"/>
            <a:chOff x="0" y="0"/>
            <a:chExt cx="11494351" cy="204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460481" cy="170688"/>
            </a:xfrm>
            <a:custGeom>
              <a:avLst/>
              <a:gdLst/>
              <a:ahLst/>
              <a:cxnLst/>
              <a:rect r="r" b="b" t="t" l="l"/>
              <a:pathLst>
                <a:path h="170688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EC97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942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87579"/>
                  </a:lnTo>
                  <a:cubicBezTo>
                    <a:pt x="11494262" y="196977"/>
                    <a:pt x="11486642" y="204470"/>
                    <a:pt x="114773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77372" y="170688"/>
                  </a:lnTo>
                  <a:lnTo>
                    <a:pt x="11477372" y="187579"/>
                  </a:lnTo>
                  <a:lnTo>
                    <a:pt x="11460480" y="187579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EC97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1852679"/>
            <a:ext cx="830075" cy="830075"/>
            <a:chOff x="0" y="0"/>
            <a:chExt cx="1106767" cy="11067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5EC97D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5EC97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1865376"/>
            <a:ext cx="804672" cy="804672"/>
            <a:chOff x="0" y="0"/>
            <a:chExt cx="1072896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1865376"/>
            <a:ext cx="7040880" cy="804672"/>
            <a:chOff x="0" y="0"/>
            <a:chExt cx="9387840" cy="10728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87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38784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EC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Cilium Leads Across Latency &amp; Throughput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" y="2798064"/>
            <a:ext cx="7936992" cy="2468880"/>
            <a:chOff x="0" y="0"/>
            <a:chExt cx="10582656" cy="3291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82656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0" r="0" b="-126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582656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Cilium's eBPF datapath delivered the lowest average latency (1.92 ms), tightest p99 distribution (4.1 ms), highest throughput (431 req/s), and lowest packet loss (0.02%). Its kernel-bypass architecture provides a measurable advantage in cross-node multi-hop workloads.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14183" y="1596647"/>
            <a:ext cx="8620763" cy="3865883"/>
            <a:chOff x="0" y="0"/>
            <a:chExt cx="11494351" cy="51545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460481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9426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137531"/>
                  </a:lnTo>
                  <a:cubicBezTo>
                    <a:pt x="11494262" y="5146929"/>
                    <a:pt x="11486642" y="5154422"/>
                    <a:pt x="11477372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477372" y="5120640"/>
                  </a:lnTo>
                  <a:lnTo>
                    <a:pt x="11477372" y="5137531"/>
                  </a:lnTo>
                  <a:lnTo>
                    <a:pt x="11460480" y="51375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14183" y="1596647"/>
            <a:ext cx="8620763" cy="153419"/>
            <a:chOff x="0" y="0"/>
            <a:chExt cx="11494351" cy="2045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460481" cy="170688"/>
            </a:xfrm>
            <a:custGeom>
              <a:avLst/>
              <a:gdLst/>
              <a:ahLst/>
              <a:cxnLst/>
              <a:rect r="r" b="b" t="t" l="l"/>
              <a:pathLst>
                <a:path h="170688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05A5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4942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87579"/>
                  </a:lnTo>
                  <a:cubicBezTo>
                    <a:pt x="11494262" y="196977"/>
                    <a:pt x="11486642" y="204470"/>
                    <a:pt x="114773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77372" y="170688"/>
                  </a:lnTo>
                  <a:lnTo>
                    <a:pt x="11477372" y="187579"/>
                  </a:lnTo>
                  <a:lnTo>
                    <a:pt x="11460480" y="187579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A5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88503" y="1852679"/>
            <a:ext cx="830075" cy="830075"/>
            <a:chOff x="0" y="0"/>
            <a:chExt cx="1106767" cy="11067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E05A5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E05A5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601200" y="1865376"/>
            <a:ext cx="804672" cy="804672"/>
            <a:chOff x="0" y="0"/>
            <a:chExt cx="1072896" cy="10728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607040" y="1865376"/>
            <a:ext cx="7040880" cy="804672"/>
            <a:chOff x="0" y="0"/>
            <a:chExt cx="9387840" cy="1072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87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38784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5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Flannel Pays a Visible VXLAN Tax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56064" y="2798064"/>
            <a:ext cx="7936992" cy="2468880"/>
            <a:chOff x="0" y="0"/>
            <a:chExt cx="10582656" cy="3291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582656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0" r="0" b="-126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582656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50 B VXLAN encapsulation per packet proved disproportionately costly for small JSON payloads — inflating average latency to 4.82 ms and constraining throughput to just 185 req/s. Cross-node overlay tunnelling is the dominant bottleneck.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53063" y="5711447"/>
            <a:ext cx="8620763" cy="3865883"/>
            <a:chOff x="0" y="0"/>
            <a:chExt cx="11494351" cy="51545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460481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49426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137531"/>
                  </a:lnTo>
                  <a:cubicBezTo>
                    <a:pt x="11494262" y="5146929"/>
                    <a:pt x="11486642" y="5154422"/>
                    <a:pt x="11477372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477372" y="5120640"/>
                  </a:lnTo>
                  <a:lnTo>
                    <a:pt x="11477372" y="5137531"/>
                  </a:lnTo>
                  <a:lnTo>
                    <a:pt x="11460480" y="51375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53063" y="5711447"/>
            <a:ext cx="8620763" cy="153419"/>
            <a:chOff x="0" y="0"/>
            <a:chExt cx="11494351" cy="2045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460481" cy="170688"/>
            </a:xfrm>
            <a:custGeom>
              <a:avLst/>
              <a:gdLst/>
              <a:ahLst/>
              <a:cxnLst/>
              <a:rect r="r" b="b" t="t" l="l"/>
              <a:pathLst>
                <a:path h="170688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C84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942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87579"/>
                  </a:lnTo>
                  <a:cubicBezTo>
                    <a:pt x="11494262" y="196977"/>
                    <a:pt x="11486642" y="204470"/>
                    <a:pt x="114773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77372" y="170688"/>
                  </a:lnTo>
                  <a:lnTo>
                    <a:pt x="11477372" y="187579"/>
                  </a:lnTo>
                  <a:lnTo>
                    <a:pt x="11460480" y="187579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C84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27383" y="5967479"/>
            <a:ext cx="830075" cy="830075"/>
            <a:chOff x="0" y="0"/>
            <a:chExt cx="1106767" cy="11067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C84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5C84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40080" y="5980176"/>
            <a:ext cx="804672" cy="804672"/>
            <a:chOff x="0" y="0"/>
            <a:chExt cx="1072896" cy="10728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45920" y="5980176"/>
            <a:ext cx="7040880" cy="804672"/>
            <a:chOff x="0" y="0"/>
            <a:chExt cx="9387840" cy="10728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87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38784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C8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Calico Offers a Balanced Middle Ground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94944" y="6912864"/>
            <a:ext cx="7936992" cy="2468880"/>
            <a:chOff x="0" y="0"/>
            <a:chExt cx="10582656" cy="3291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582656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0" r="0" b="-1264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582656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BGP/L3 routing avoids tunnel overhead and delivers solid mid-range performance. It is a pragmatic choice for teams that need mature network policy support without fully committing to the operational complexity of eBPF-based configurations.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14183" y="5711447"/>
            <a:ext cx="8620763" cy="3865883"/>
            <a:chOff x="0" y="0"/>
            <a:chExt cx="11494351" cy="51545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460481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255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49426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5137531"/>
                  </a:lnTo>
                  <a:cubicBezTo>
                    <a:pt x="11494262" y="5146929"/>
                    <a:pt x="11486642" y="5154422"/>
                    <a:pt x="11477372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477372" y="5120640"/>
                  </a:lnTo>
                  <a:lnTo>
                    <a:pt x="11477372" y="5137531"/>
                  </a:lnTo>
                  <a:lnTo>
                    <a:pt x="11460480" y="51375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14183" y="5711447"/>
            <a:ext cx="8620763" cy="153419"/>
            <a:chOff x="0" y="0"/>
            <a:chExt cx="11494351" cy="2045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460481" cy="170688"/>
            </a:xfrm>
            <a:custGeom>
              <a:avLst/>
              <a:gdLst/>
              <a:ahLst/>
              <a:cxnLst/>
              <a:rect r="r" b="b" t="t" l="l"/>
              <a:pathLst>
                <a:path h="170688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4942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87579"/>
                  </a:lnTo>
                  <a:cubicBezTo>
                    <a:pt x="11494262" y="196977"/>
                    <a:pt x="11486642" y="204470"/>
                    <a:pt x="11477372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77372" y="170688"/>
                  </a:lnTo>
                  <a:lnTo>
                    <a:pt x="11477372" y="187579"/>
                  </a:lnTo>
                  <a:lnTo>
                    <a:pt x="11460480" y="187579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88503" y="5967479"/>
            <a:ext cx="830075" cy="830075"/>
            <a:chOff x="0" y="0"/>
            <a:chExt cx="1106767" cy="110676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01200" y="5980176"/>
            <a:ext cx="804672" cy="804672"/>
            <a:chOff x="0" y="0"/>
            <a:chExt cx="1072896" cy="10728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07040" y="5980176"/>
            <a:ext cx="7040880" cy="804672"/>
            <a:chOff x="0" y="0"/>
            <a:chExt cx="9387840" cy="10728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87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38784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C8E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Benchmarking Context Matters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56064" y="6912864"/>
            <a:ext cx="7936992" cy="2468880"/>
            <a:chOff x="0" y="0"/>
            <a:chExt cx="10582656" cy="3291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582656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0" r="0" b="-1264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582656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are sensitive to NodePort IP path, CNI warmup state, and kernel routing cache. Infrastructure teams must replicate benchmark conditions precisely before using data to make cluster-wide CNI decisions.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27097" y="-927097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00C8E0">
                <a:alpha val="196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00C8E0">
                <a:alpha val="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617703" y="6388103"/>
            <a:ext cx="4597403" cy="4597403"/>
            <a:chOff x="0" y="0"/>
            <a:chExt cx="6129871" cy="612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5EC97D">
                <a:alpha val="1961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5EC97D">
                <a:alpha val="1961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194560"/>
            <a:ext cx="16459200" cy="2377440"/>
            <a:chOff x="0" y="0"/>
            <a:chExt cx="21945600" cy="3169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09550"/>
              <a:ext cx="21945600" cy="3379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1F5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4389120"/>
            <a:ext cx="16459200" cy="1097280"/>
            <a:chOff x="0" y="0"/>
            <a:chExt cx="2194560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88103" y="5656583"/>
            <a:ext cx="5511803" cy="116843"/>
            <a:chOff x="0" y="0"/>
            <a:chExt cx="7349071" cy="155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121920"/>
            </a:xfrm>
            <a:custGeom>
              <a:avLst/>
              <a:gdLst/>
              <a:ahLst/>
              <a:cxnLst/>
              <a:rect r="r" b="b" t="t" l="l"/>
              <a:pathLst>
                <a:path h="121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C8E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155704"/>
            </a:xfrm>
            <a:custGeom>
              <a:avLst/>
              <a:gdLst/>
              <a:ahLst/>
              <a:cxnLst/>
              <a:rect r="r" b="b" t="t" l="l"/>
              <a:pathLst>
                <a:path h="15570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8811"/>
                  </a:lnTo>
                  <a:cubicBezTo>
                    <a:pt x="7348982" y="148209"/>
                    <a:pt x="7341362" y="155702"/>
                    <a:pt x="7332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332091" y="121920"/>
                  </a:lnTo>
                  <a:lnTo>
                    <a:pt x="7332091" y="138811"/>
                  </a:lnTo>
                  <a:lnTo>
                    <a:pt x="7315200" y="138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E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6035040"/>
            <a:ext cx="16459200" cy="640080"/>
            <a:chOff x="0" y="0"/>
            <a:chExt cx="219456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7  ·  MT25047  ·  MT25027  ·  MT25043  ·  MT25022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6858000"/>
            <a:ext cx="16459200" cy="548640"/>
            <a:chOff x="0" y="0"/>
            <a:chExt cx="219456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Kubernetes CNI Performance Benchmark  |  Part B  —  Multi-Node Microservice Communication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DAHHORtHMRI</dc:identifier>
  <dcterms:modified xsi:type="dcterms:W3CDTF">2011-08-01T06:04:30Z</dcterms:modified>
  <cp:revision>1</cp:revision>
  <dc:title>Group7_CNI_Benchmark_PartB.pptx</dc:title>
</cp:coreProperties>
</file>